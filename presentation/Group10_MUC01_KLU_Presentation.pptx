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bills (%)</c:v>
                </c:pt>
              </c:strCache>
            </c:strRef>
          </c:tx>
          <c:spPr>
            <a:solidFill>
              <a:srgbClr val="A8A69E"/>
            </a:solidFill>
            <a:effectLst/>
          </c:spPr>
          <c:invertIfNegative val="0"/>
          <c:dLbls>
            <c:numFmt formatCode="0&quot;%&quot;" sourceLinked="0"/>
            <c:txPr>
              <a:bodyPr/>
              <a:lstStyle/>
              <a:p>
                <a:pPr>
                  <a:defRPr b="0" i="0" strike="noStrike" sz="1100" u="none">
                    <a:solidFill>
                      <a:srgbClr val="1F2328"/>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Personal Care</c:v>
                  </c:pt>
                  <c:pt idx="1">
                    <c:v>Grocery</c:v>
                  </c:pt>
                  <c:pt idx="2">
                    <c:v>Apparel</c:v>
                  </c:pt>
                  <c:pt idx="3">
                    <c:v>Home &amp; Kitchen</c:v>
                  </c:pt>
                  <c:pt idx="4">
                    <c:v>Electronics</c:v>
                  </c:pt>
                </c:lvl>
              </c:multiLvlStrCache>
            </c:multiLvlStrRef>
          </c:cat>
          <c:val>
            <c:numRef>
              <c:f>Sheet1!$B$2:$B$6</c:f>
              <c:numCache>
                <c:formatCode>General</c:formatCode>
                <c:ptCount val="5"/>
                <c:pt idx="0">
                  <c:v>24.1</c:v>
                </c:pt>
                <c:pt idx="1">
                  <c:v>50.2</c:v>
                </c:pt>
                <c:pt idx="2">
                  <c:v>14.2</c:v>
                </c:pt>
                <c:pt idx="3">
                  <c:v>7.8</c:v>
                </c:pt>
                <c:pt idx="4">
                  <c:v>3.7</c:v>
                </c:pt>
              </c:numCache>
            </c:numRef>
          </c:val>
        </c:ser>
        <c:ser>
          <c:idx val="1"/>
          <c:order val="1"/>
          <c:tx>
            <c:strRef>
              <c:f>Sheet1!$C$1</c:f>
              <c:strCache>
                <c:ptCount val="1"/>
                <c:pt idx="0">
                  <c:v>Share of revenue (%)</c:v>
                </c:pt>
              </c:strCache>
            </c:strRef>
          </c:tx>
          <c:spPr>
            <a:solidFill>
              <a:srgbClr val="2A78D6"/>
            </a:solidFill>
            <a:effectLst/>
          </c:spPr>
          <c:invertIfNegative val="0"/>
          <c:dLbls>
            <c:numFmt formatCode="0&quot;%&quot;" sourceLinked="0"/>
            <c:txPr>
              <a:bodyPr/>
              <a:lstStyle/>
              <a:p>
                <a:pPr>
                  <a:defRPr b="0" i="0" strike="noStrike" sz="1100" u="none">
                    <a:solidFill>
                      <a:srgbClr val="1F2328"/>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Personal Care</c:v>
                  </c:pt>
                  <c:pt idx="1">
                    <c:v>Grocery</c:v>
                  </c:pt>
                  <c:pt idx="2">
                    <c:v>Apparel</c:v>
                  </c:pt>
                  <c:pt idx="3">
                    <c:v>Home &amp; Kitchen</c:v>
                  </c:pt>
                  <c:pt idx="4">
                    <c:v>Electronics</c:v>
                  </c:pt>
                </c:lvl>
              </c:multiLvlStrCache>
            </c:multiLvlStrRef>
          </c:cat>
          <c:val>
            <c:numRef>
              <c:f>Sheet1!$C$2:$C$6</c:f>
              <c:numCache>
                <c:formatCode>General</c:formatCode>
                <c:ptCount val="5"/>
                <c:pt idx="0">
                  <c:v>8.6</c:v>
                </c:pt>
                <c:pt idx="1">
                  <c:v>9.2</c:v>
                </c:pt>
                <c:pt idx="2">
                  <c:v>15.1</c:v>
                </c:pt>
                <c:pt idx="3">
                  <c:v>17.8</c:v>
                </c:pt>
                <c:pt idx="4">
                  <c:v>49.3</c:v>
                </c:pt>
              </c:numCache>
            </c:numRef>
          </c:val>
        </c:ser>
        <c:dLbls>
          <c:numFmt formatCode="0&quot;%&quot;" sourceLinked="0"/>
          <c:txPr>
            <a:bodyPr/>
            <a:lstStyle/>
            <a:p>
              <a:pPr>
                <a:defRPr b="0" i="0" strike="noStrike" sz="1100" u="none">
                  <a:solidFill>
                    <a:srgbClr val="1F232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3C2B7"/>
            </a:solidFill>
            <a:prstDash val="solid"/>
            <a:round/>
          </a:ln>
        </c:spPr>
        <c:txPr>
          <a:bodyPr/>
          <a:lstStyle/>
          <a:p>
            <a:pPr>
              <a:defRPr sz="1300" b="0" i="0" u="none" strike="noStrike">
                <a:solidFill>
                  <a:srgbClr val="5F6368"/>
                </a:solidFill>
                <a:latin typeface="Calibri"/>
              </a:defRPr>
            </a:pPr>
            <a:endParaRPr lang="en-US"/>
          </a:p>
        </c:txPr>
        <c:crossAx val="2094734552"/>
        <c:crosses val="autoZero"/>
        <c:auto val="1"/>
        <c:lblAlgn val="ctr"/>
        <c:noMultiLvlLbl val="1"/>
      </c:catAx>
      <c:valAx>
        <c:axId val="2094734552"/>
        <c:scaling>
          <c:orientation val="minMax"/>
          <c:max val="60"/>
        </c:scaling>
        <c:delete val="1"/>
        <c:axPos val="b"/>
        <c:majorGridlines>
          <c:spPr>
            <a:ln w="6350" cap="flat">
              <a:solidFill>
                <a:srgbClr val="E1E0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F636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Electronics (−35%)</c:v>
                </c:pt>
              </c:strCache>
            </c:strRef>
          </c:tx>
          <c:spPr>
            <a:solidFill>
              <a:srgbClr val="D03B3B"/>
            </a:solidFill>
            <a:ln w="38100" cap="flat">
              <a:solidFill>
                <a:srgbClr val="D0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03B3B"/>
              </a:solidFill>
              <a:ln w="9525" cap="flat">
                <a:solidFill>
                  <a:srgbClr val="D03B3B"/>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456.9</c:v>
                </c:pt>
                <c:pt idx="1">
                  <c:v>389.9</c:v>
                </c:pt>
                <c:pt idx="2">
                  <c:v>408.5</c:v>
                </c:pt>
                <c:pt idx="3">
                  <c:v>370.9</c:v>
                </c:pt>
                <c:pt idx="4">
                  <c:v>342.3</c:v>
                </c:pt>
                <c:pt idx="5">
                  <c:v>296.9</c:v>
                </c:pt>
              </c:numCache>
            </c:numRef>
          </c:val>
          <c:smooth val="0"/>
        </c:ser>
        <c:ser>
          <c:idx val="1"/>
          <c:order val="1"/>
          <c:tx>
            <c:strRef>
              <c:f>Sheet1!$C$1</c:f>
              <c:strCache>
                <c:ptCount val="1"/>
                <c:pt idx="0">
                  <c:v>Home &amp; Kitchen (−18%)</c:v>
                </c:pt>
              </c:strCache>
            </c:strRef>
          </c:tx>
          <c:spPr>
            <a:solidFill>
              <a:srgbClr val="E59A9A"/>
            </a:solidFill>
            <a:ln w="38100" cap="flat">
              <a:solidFill>
                <a:srgbClr val="E59A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59A9A"/>
              </a:solidFill>
              <a:ln w="9525" cap="flat">
                <a:solidFill>
                  <a:srgbClr val="E59A9A"/>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151.3</c:v>
                </c:pt>
                <c:pt idx="1">
                  <c:v>130.1</c:v>
                </c:pt>
                <c:pt idx="2">
                  <c:v>143.6</c:v>
                </c:pt>
                <c:pt idx="3">
                  <c:v>134.3</c:v>
                </c:pt>
                <c:pt idx="4">
                  <c:v>135.8</c:v>
                </c:pt>
                <c:pt idx="5">
                  <c:v>123.3</c:v>
                </c:pt>
              </c:numCache>
            </c:numRef>
          </c:val>
          <c:smooth val="0"/>
        </c:ser>
        <c:ser>
          <c:idx val="2"/>
          <c:order val="2"/>
          <c:tx>
            <c:strRef>
              <c:f>Sheet1!$D$1</c:f>
              <c:strCache>
                <c:ptCount val="1"/>
                <c:pt idx="0">
                  <c:v>Apparel (+34%)</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Sheet1!$D$2:$D$7</c:f>
              <c:numCache>
                <c:formatCode>General</c:formatCode>
                <c:ptCount val="6"/>
                <c:pt idx="0">
                  <c:v>100.5</c:v>
                </c:pt>
                <c:pt idx="1">
                  <c:v>95.1</c:v>
                </c:pt>
                <c:pt idx="2">
                  <c:v>115.4</c:v>
                </c:pt>
                <c:pt idx="3">
                  <c:v>116.8</c:v>
                </c:pt>
                <c:pt idx="4">
                  <c:v>132.2</c:v>
                </c:pt>
                <c:pt idx="5">
                  <c:v>134.8</c:v>
                </c:pt>
              </c:numCache>
            </c:numRef>
          </c:val>
          <c:smooth val="0"/>
        </c:ser>
        <c:ser>
          <c:idx val="3"/>
          <c:order val="3"/>
          <c:tx>
            <c:strRef>
              <c:f>Sheet1!$E$1</c:f>
              <c:strCache>
                <c:ptCount val="1"/>
                <c:pt idx="0">
                  <c:v>Grocery (−4%)</c:v>
                </c:pt>
              </c:strCache>
            </c:strRef>
          </c:tx>
          <c:spPr>
            <a:solidFill>
              <a:srgbClr val="A8A69E"/>
            </a:solidFill>
            <a:ln w="38100" cap="flat">
              <a:solidFill>
                <a:srgbClr val="A8A6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8A69E"/>
              </a:solidFill>
              <a:ln w="9525" cap="flat">
                <a:solidFill>
                  <a:srgbClr val="A8A69E"/>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Sheet1!$E$2:$E$7</c:f>
              <c:numCache>
                <c:formatCode>General</c:formatCode>
                <c:ptCount val="6"/>
                <c:pt idx="0">
                  <c:v>73.1</c:v>
                </c:pt>
                <c:pt idx="1">
                  <c:v>65.3</c:v>
                </c:pt>
                <c:pt idx="2">
                  <c:v>71.3</c:v>
                </c:pt>
                <c:pt idx="3">
                  <c:v>70.5</c:v>
                </c:pt>
                <c:pt idx="4">
                  <c:v>72.3</c:v>
                </c:pt>
                <c:pt idx="5">
                  <c:v>70.5</c:v>
                </c:pt>
              </c:numCache>
            </c:numRef>
          </c:val>
          <c:smooth val="0"/>
        </c:ser>
        <c:ser>
          <c:idx val="4"/>
          <c:order val="4"/>
          <c:tx>
            <c:strRef>
              <c:f>Sheet1!$F$1</c:f>
              <c:strCache>
                <c:ptCount val="1"/>
                <c:pt idx="0">
                  <c:v>Personal Care (+2%)</c:v>
                </c:pt>
              </c:strCache>
            </c:strRef>
          </c:tx>
          <c:spPr>
            <a:solidFill>
              <a:srgbClr val="7D7B74"/>
            </a:solidFill>
            <a:ln w="38100" cap="flat">
              <a:solidFill>
                <a:srgbClr val="7D7B7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D7B74"/>
              </a:solidFill>
              <a:ln w="9525" cap="flat">
                <a:solidFill>
                  <a:srgbClr val="7D7B74"/>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Sheet1!$F$2:$F$7</c:f>
              <c:numCache>
                <c:formatCode>General</c:formatCode>
                <c:ptCount val="6"/>
                <c:pt idx="0">
                  <c:v>65.9</c:v>
                </c:pt>
                <c:pt idx="1">
                  <c:v>57.9</c:v>
                </c:pt>
                <c:pt idx="2">
                  <c:v>68.1</c:v>
                </c:pt>
                <c:pt idx="3">
                  <c:v>64.2</c:v>
                </c:pt>
                <c:pt idx="4">
                  <c:v>73</c:v>
                </c:pt>
                <c:pt idx="5">
                  <c:v>67.4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100" b="0" i="0" u="none" strike="noStrike">
                <a:solidFill>
                  <a:srgbClr val="5F6368"/>
                </a:solidFill>
                <a:latin typeface="Calibri"/>
              </a:defRPr>
            </a:pPr>
            <a:endParaRPr lang="en-US"/>
          </a:p>
        </c:txPr>
        <c:crossAx val="2094734552"/>
        <c:crosses val="autoZero"/>
        <c:auto val="1"/>
        <c:lblAlgn val="ctr"/>
        <c:noMultiLvlLbl val="1"/>
      </c:catAx>
      <c:valAx>
        <c:axId val="2094734552"/>
        <c:scaling>
          <c:orientation val="minMax"/>
          <c:max val="500"/>
          <c:min val="0"/>
        </c:scaling>
        <c:delete val="0"/>
        <c:axPos val="l"/>
        <c:majorGridlines>
          <c:spPr>
            <a:ln w="6350" cap="flat">
              <a:solidFill>
                <a:srgbClr val="E1E0D9"/>
              </a:solidFill>
              <a:prstDash val="solid"/>
              <a:round/>
            </a:ln>
          </c:spPr>
        </c:majorGridlines>
        <c:numFmt formatCode="&quot;₹&quot;0&quot; L&quot;" sourceLinked="0"/>
        <c:majorTickMark val="out"/>
        <c:minorTickMark val="none"/>
        <c:tickLblPos val="nextTo"/>
        <c:spPr>
          <a:ln w="12700" cap="flat">
            <a:noFill/>
            <a:prstDash val="solid"/>
            <a:round/>
          </a:ln>
        </c:spPr>
        <c:txPr>
          <a:bodyPr/>
          <a:lstStyle/>
          <a:p>
            <a:pPr>
              <a:defRPr sz="1000" b="0" i="0" u="none" strike="noStrike">
                <a:solidFill>
                  <a:srgbClr val="5F6368"/>
                </a:solidFill>
                <a:latin typeface="Calibri"/>
              </a:defRPr>
            </a:pPr>
            <a:endParaRPr lang="en-US"/>
          </a:p>
        </c:txPr>
        <c:crossAx val="2094734554"/>
        <c:crosses val="autoZero"/>
        <c:crossBetween val="between"/>
        <c:majorUnit val="100"/>
      </c:valAx>
      <c:spPr>
        <a:noFill/>
        <a:ln>
          <a:noFill/>
        </a:ln>
        <a:effectLst/>
      </c:spPr>
    </c:plotArea>
    <c:legend>
      <c:legendPos val="b"/>
      <c:overlay val="0"/>
      <c:txPr>
        <a:bodyPr/>
        <a:lstStyle/>
        <a:p>
          <a:pPr>
            <a:defRPr sz="1200">
              <a:solidFill>
                <a:srgbClr val="1F232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Growing (≥ +10%)</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Sheet1!$A$2:$A$26</c:f>
              <c:multiLvlStrCache>
                <c:ptCount val="25"/>
                <c:lvl>
                  <c:pt idx="0">
                    <c:v>Mobile Phone · Elec  -57%</c:v>
                  </c:pt>
                  <c:pt idx="1">
                    <c:v>Tablet · Elec  -41%</c:v>
                  </c:pt>
                  <c:pt idx="2">
                    <c:v>Laptop · Elec  -31%</c:v>
                  </c:pt>
                  <c:pt idx="3">
                    <c:v>Dinner Set · H&amp;K  -27%</c:v>
                  </c:pt>
                  <c:pt idx="4">
                    <c:v>Smart TV · Elec  -22%</c:v>
                  </c:pt>
                  <c:pt idx="5">
                    <c:v>Mixer Grinder · H&amp;K  -22%</c:v>
                  </c:pt>
                  <c:pt idx="6">
                    <c:v>Water Bottle · H&amp;K  -20%</c:v>
                  </c:pt>
                  <c:pt idx="7">
                    <c:v>Headphones · Elec  -20%</c:v>
                  </c:pt>
                  <c:pt idx="8">
                    <c:v>Pressure Cooker · H&amp;K  -12%</c:v>
                  </c:pt>
                  <c:pt idx="9">
                    <c:v>Storage Box · H&amp;K  -11%</c:v>
                  </c:pt>
                  <c:pt idx="10">
                    <c:v>Dal · Gro  -7%</c:v>
                  </c:pt>
                  <c:pt idx="11">
                    <c:v>Atta · Gro  -6%</c:v>
                  </c:pt>
                  <c:pt idx="12">
                    <c:v>Oil · Gro  -5%</c:v>
                  </c:pt>
                  <c:pt idx="13">
                    <c:v>Face Wash · PC  -2%</c:v>
                  </c:pt>
                  <c:pt idx="14">
                    <c:v>Shampoo · PC  -1%</c:v>
                  </c:pt>
                  <c:pt idx="15">
                    <c:v>Rice · Gro  -1%</c:v>
                  </c:pt>
                  <c:pt idx="16">
                    <c:v>Sugar · Gro  +1%</c:v>
                  </c:pt>
                  <c:pt idx="17">
                    <c:v>Toothpaste · PC  +3%</c:v>
                  </c:pt>
                  <c:pt idx="18">
                    <c:v>Body Lotion · PC  +5%</c:v>
                  </c:pt>
                  <c:pt idx="19">
                    <c:v>Sunscreen · PC  +6%</c:v>
                  </c:pt>
                  <c:pt idx="20">
                    <c:v>Kurta · App  +18%</c:v>
                  </c:pt>
                  <c:pt idx="21">
                    <c:v>Saree · App  +33%</c:v>
                  </c:pt>
                  <c:pt idx="22">
                    <c:v>Formal Shirt · App  +35%</c:v>
                  </c:pt>
                  <c:pt idx="23">
                    <c:v>Jeans · App  +40%</c:v>
                  </c:pt>
                  <c:pt idx="24">
                    <c:v>T-Shirt · App  +45%</c:v>
                  </c:pt>
                </c:lvl>
              </c:multiLvlStrCache>
            </c:multiLvlStrRef>
          </c:cat>
          <c:val>
            <c:numRef>
              <c:f>Sheet1!$B$2:$B$26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18.1</c:v>
                </c:pt>
                <c:pt idx="21">
                  <c:v>32.6</c:v>
                </c:pt>
                <c:pt idx="22">
                  <c:v>35.4</c:v>
                </c:pt>
                <c:pt idx="23">
                  <c:v>40.49</c:v>
                </c:pt>
                <c:pt idx="24">
                  <c:v>44.9</c:v>
                </c:pt>
              </c:numCache>
            </c:numRef>
          </c:val>
        </c:ser>
        <c:ser>
          <c:idx val="1"/>
          <c:order val="1"/>
          <c:tx>
            <c:strRef>
              <c:f>Sheet1!$C$1</c:f>
              <c:strCache>
                <c:ptCount val="1"/>
                <c:pt idx="0">
                  <c:v>Stable</c:v>
                </c:pt>
              </c:strCache>
            </c:strRef>
          </c:tx>
          <c:spPr>
            <a:solidFill>
              <a:srgbClr val="A8A6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Sheet1!$A$2:$A$26</c:f>
              <c:multiLvlStrCache>
                <c:ptCount val="25"/>
                <c:lvl>
                  <c:pt idx="0">
                    <c:v>Mobile Phone · Elec  -57%</c:v>
                  </c:pt>
                  <c:pt idx="1">
                    <c:v>Tablet · Elec  -41%</c:v>
                  </c:pt>
                  <c:pt idx="2">
                    <c:v>Laptop · Elec  -31%</c:v>
                  </c:pt>
                  <c:pt idx="3">
                    <c:v>Dinner Set · H&amp;K  -27%</c:v>
                  </c:pt>
                  <c:pt idx="4">
                    <c:v>Smart TV · Elec  -22%</c:v>
                  </c:pt>
                  <c:pt idx="5">
                    <c:v>Mixer Grinder · H&amp;K  -22%</c:v>
                  </c:pt>
                  <c:pt idx="6">
                    <c:v>Water Bottle · H&amp;K  -20%</c:v>
                  </c:pt>
                  <c:pt idx="7">
                    <c:v>Headphones · Elec  -20%</c:v>
                  </c:pt>
                  <c:pt idx="8">
                    <c:v>Pressure Cooker · H&amp;K  -12%</c:v>
                  </c:pt>
                  <c:pt idx="9">
                    <c:v>Storage Box · H&amp;K  -11%</c:v>
                  </c:pt>
                  <c:pt idx="10">
                    <c:v>Dal · Gro  -7%</c:v>
                  </c:pt>
                  <c:pt idx="11">
                    <c:v>Atta · Gro  -6%</c:v>
                  </c:pt>
                  <c:pt idx="12">
                    <c:v>Oil · Gro  -5%</c:v>
                  </c:pt>
                  <c:pt idx="13">
                    <c:v>Face Wash · PC  -2%</c:v>
                  </c:pt>
                  <c:pt idx="14">
                    <c:v>Shampoo · PC  -1%</c:v>
                  </c:pt>
                  <c:pt idx="15">
                    <c:v>Rice · Gro  -1%</c:v>
                  </c:pt>
                  <c:pt idx="16">
                    <c:v>Sugar · Gro  +1%</c:v>
                  </c:pt>
                  <c:pt idx="17">
                    <c:v>Toothpaste · PC  +3%</c:v>
                  </c:pt>
                  <c:pt idx="18">
                    <c:v>Body Lotion · PC  +5%</c:v>
                  </c:pt>
                  <c:pt idx="19">
                    <c:v>Sunscreen · PC  +6%</c:v>
                  </c:pt>
                  <c:pt idx="20">
                    <c:v>Kurta · App  +18%</c:v>
                  </c:pt>
                  <c:pt idx="21">
                    <c:v>Saree · App  +33%</c:v>
                  </c:pt>
                  <c:pt idx="22">
                    <c:v>Formal Shirt · App  +35%</c:v>
                  </c:pt>
                  <c:pt idx="23">
                    <c:v>Jeans · App  +40%</c:v>
                  </c:pt>
                  <c:pt idx="24">
                    <c:v>T-Shirt · App  +45%</c:v>
                  </c:pt>
                </c:lvl>
              </c:multiLvlStrCache>
            </c:multiLvlStrRef>
          </c:cat>
          <c:val>
            <c:numRef>
              <c:f>Sheet1!$C$2:$C$26</c:f>
              <c:numCache>
                <c:formatCode>General</c:formatCode>
                <c:ptCount val="25"/>
                <c:pt idx="0">
                  <c:v>0</c:v>
                </c:pt>
                <c:pt idx="1">
                  <c:v>0</c:v>
                </c:pt>
                <c:pt idx="2">
                  <c:v>0</c:v>
                </c:pt>
                <c:pt idx="3">
                  <c:v>0</c:v>
                </c:pt>
                <c:pt idx="4">
                  <c:v>0</c:v>
                </c:pt>
                <c:pt idx="5">
                  <c:v>0</c:v>
                </c:pt>
                <c:pt idx="6">
                  <c:v>0</c:v>
                </c:pt>
                <c:pt idx="7">
                  <c:v>0</c:v>
                </c:pt>
                <c:pt idx="8">
                  <c:v>0</c:v>
                </c:pt>
                <c:pt idx="9">
                  <c:v>0</c:v>
                </c:pt>
                <c:pt idx="10">
                  <c:v>-7.3</c:v>
                </c:pt>
                <c:pt idx="11">
                  <c:v>-5.8</c:v>
                </c:pt>
                <c:pt idx="12">
                  <c:v>-4.8</c:v>
                </c:pt>
                <c:pt idx="13">
                  <c:v>-2</c:v>
                </c:pt>
                <c:pt idx="14">
                  <c:v>-0.7</c:v>
                </c:pt>
                <c:pt idx="15">
                  <c:v>-0.6</c:v>
                </c:pt>
                <c:pt idx="16">
                  <c:v>1.3</c:v>
                </c:pt>
                <c:pt idx="17">
                  <c:v>3.4</c:v>
                </c:pt>
                <c:pt idx="18">
                  <c:v>5</c:v>
                </c:pt>
                <c:pt idx="19">
                  <c:v>5.6</c:v>
                </c:pt>
                <c:pt idx="20">
                  <c:v>0</c:v>
                </c:pt>
                <c:pt idx="21">
                  <c:v>0</c:v>
                </c:pt>
                <c:pt idx="22">
                  <c:v>0</c:v>
                </c:pt>
                <c:pt idx="23">
                  <c:v>0</c:v>
                </c:pt>
                <c:pt idx="24">
                  <c:v>0</c:v>
                </c:pt>
              </c:numCache>
            </c:numRef>
          </c:val>
        </c:ser>
        <c:ser>
          <c:idx val="2"/>
          <c:order val="2"/>
          <c:tx>
            <c:strRef>
              <c:f>Sheet1!$D$1</c:f>
              <c:strCache>
                <c:ptCount val="1"/>
                <c:pt idx="0">
                  <c:v>Declining (≤ −10%)</c:v>
                </c:pt>
              </c:strCache>
            </c:strRef>
          </c:tx>
          <c:spPr>
            <a:solidFill>
              <a:srgbClr val="D03B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Sheet1!$A$2:$A$26</c:f>
              <c:multiLvlStrCache>
                <c:ptCount val="25"/>
                <c:lvl>
                  <c:pt idx="0">
                    <c:v>Mobile Phone · Elec  -57%</c:v>
                  </c:pt>
                  <c:pt idx="1">
                    <c:v>Tablet · Elec  -41%</c:v>
                  </c:pt>
                  <c:pt idx="2">
                    <c:v>Laptop · Elec  -31%</c:v>
                  </c:pt>
                  <c:pt idx="3">
                    <c:v>Dinner Set · H&amp;K  -27%</c:v>
                  </c:pt>
                  <c:pt idx="4">
                    <c:v>Smart TV · Elec  -22%</c:v>
                  </c:pt>
                  <c:pt idx="5">
                    <c:v>Mixer Grinder · H&amp;K  -22%</c:v>
                  </c:pt>
                  <c:pt idx="6">
                    <c:v>Water Bottle · H&amp;K  -20%</c:v>
                  </c:pt>
                  <c:pt idx="7">
                    <c:v>Headphones · Elec  -20%</c:v>
                  </c:pt>
                  <c:pt idx="8">
                    <c:v>Pressure Cooker · H&amp;K  -12%</c:v>
                  </c:pt>
                  <c:pt idx="9">
                    <c:v>Storage Box · H&amp;K  -11%</c:v>
                  </c:pt>
                  <c:pt idx="10">
                    <c:v>Dal · Gro  -7%</c:v>
                  </c:pt>
                  <c:pt idx="11">
                    <c:v>Atta · Gro  -6%</c:v>
                  </c:pt>
                  <c:pt idx="12">
                    <c:v>Oil · Gro  -5%</c:v>
                  </c:pt>
                  <c:pt idx="13">
                    <c:v>Face Wash · PC  -2%</c:v>
                  </c:pt>
                  <c:pt idx="14">
                    <c:v>Shampoo · PC  -1%</c:v>
                  </c:pt>
                  <c:pt idx="15">
                    <c:v>Rice · Gro  -1%</c:v>
                  </c:pt>
                  <c:pt idx="16">
                    <c:v>Sugar · Gro  +1%</c:v>
                  </c:pt>
                  <c:pt idx="17">
                    <c:v>Toothpaste · PC  +3%</c:v>
                  </c:pt>
                  <c:pt idx="18">
                    <c:v>Body Lotion · PC  +5%</c:v>
                  </c:pt>
                  <c:pt idx="19">
                    <c:v>Sunscreen · PC  +6%</c:v>
                  </c:pt>
                  <c:pt idx="20">
                    <c:v>Kurta · App  +18%</c:v>
                  </c:pt>
                  <c:pt idx="21">
                    <c:v>Saree · App  +33%</c:v>
                  </c:pt>
                  <c:pt idx="22">
                    <c:v>Formal Shirt · App  +35%</c:v>
                  </c:pt>
                  <c:pt idx="23">
                    <c:v>Jeans · App  +40%</c:v>
                  </c:pt>
                  <c:pt idx="24">
                    <c:v>T-Shirt · App  +45%</c:v>
                  </c:pt>
                </c:lvl>
              </c:multiLvlStrCache>
            </c:multiLvlStrRef>
          </c:cat>
          <c:val>
            <c:numRef>
              <c:f>Sheet1!$D$2:$D$26</c:f>
              <c:numCache>
                <c:formatCode>General</c:formatCode>
                <c:ptCount val="25"/>
                <c:pt idx="0">
                  <c:v>-57.1</c:v>
                </c:pt>
                <c:pt idx="1">
                  <c:v>-40.9</c:v>
                </c:pt>
                <c:pt idx="2">
                  <c:v>-30.7</c:v>
                </c:pt>
                <c:pt idx="3">
                  <c:v>-27.2</c:v>
                </c:pt>
                <c:pt idx="4">
                  <c:v>-21.9</c:v>
                </c:pt>
                <c:pt idx="5">
                  <c:v>-21.9</c:v>
                </c:pt>
                <c:pt idx="6">
                  <c:v>-20.3</c:v>
                </c:pt>
                <c:pt idx="7">
                  <c:v>-20.3</c:v>
                </c:pt>
                <c:pt idx="8">
                  <c:v>-11.7</c:v>
                </c:pt>
                <c:pt idx="9">
                  <c:v>-11.3</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C3C2B7"/>
            </a:solidFill>
            <a:prstDash val="solid"/>
            <a:round/>
          </a:ln>
        </c:spPr>
        <c:txPr>
          <a:bodyPr/>
          <a:lstStyle/>
          <a:p>
            <a:pPr>
              <a:defRPr sz="850" b="0" i="0" u="none" strike="noStrike">
                <a:solidFill>
                  <a:srgbClr val="5F6368"/>
                </a:solidFill>
                <a:latin typeface="Calibri"/>
              </a:defRPr>
            </a:pPr>
            <a:endParaRPr lang="en-US"/>
          </a:p>
        </c:txPr>
        <c:crossAx val="2094734552"/>
        <c:crosses val="autoZero"/>
        <c:auto val="1"/>
        <c:lblAlgn val="ctr"/>
        <c:noMultiLvlLbl val="1"/>
        <c:tickLblSkip val="1"/>
      </c:catAx>
      <c:valAx>
        <c:axId val="2094734552"/>
        <c:scaling>
          <c:orientation val="minMax"/>
          <c:max val="50"/>
          <c:min val="-60"/>
        </c:scaling>
        <c:delete val="0"/>
        <c:axPos val="b"/>
        <c:majorGridlines>
          <c:spPr>
            <a:ln w="6350" cap="flat">
              <a:solidFill>
                <a:srgbClr val="E1E0D9"/>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5F6368"/>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F232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Weekday</c:v>
                </c:pt>
              </c:strCache>
            </c:strRef>
          </c:tx>
          <c:spPr>
            <a:solidFill>
              <a:srgbClr val="A8A69E"/>
            </a:solidFill>
            <a:effectLst/>
          </c:spPr>
          <c:invertIfNegative val="0"/>
          <c:dLbls>
            <c:numFmt formatCode="&quot;₹&quot;0.0&quot; L&quot;;;;" sourceLinked="0"/>
            <c:txPr>
              <a:bodyPr/>
              <a:lstStyle/>
              <a:p>
                <a:pPr>
                  <a:defRPr b="1" i="0" strike="noStrike" sz="12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20.1</c:v>
                </c:pt>
                <c:pt idx="1">
                  <c:v>20.5</c:v>
                </c:pt>
                <c:pt idx="2">
                  <c:v>22.3</c:v>
                </c:pt>
                <c:pt idx="3">
                  <c:v>22.5</c:v>
                </c:pt>
                <c:pt idx="4">
                  <c:v>26.2</c:v>
                </c:pt>
                <c:pt idx="5">
                  <c:v>0</c:v>
                </c:pt>
                <c:pt idx="6">
                  <c:v>0</c:v>
                </c:pt>
              </c:numCache>
            </c:numRef>
          </c:val>
        </c:ser>
        <c:ser>
          <c:idx val="1"/>
          <c:order val="1"/>
          <c:tx>
            <c:strRef>
              <c:f>Sheet1!$C$1</c:f>
              <c:strCache>
                <c:ptCount val="1"/>
                <c:pt idx="0">
                  <c:v>Weekend</c:v>
                </c:pt>
              </c:strCache>
            </c:strRef>
          </c:tx>
          <c:spPr>
            <a:solidFill>
              <a:srgbClr val="2A78D6"/>
            </a:solidFill>
            <a:effectLst/>
          </c:spPr>
          <c:invertIfNegative val="0"/>
          <c:dLbls>
            <c:numFmt formatCode="&quot;₹&quot;0.0&quot; L&quot;;;;" sourceLinked="0"/>
            <c:txPr>
              <a:bodyPr/>
              <a:lstStyle/>
              <a:p>
                <a:pPr>
                  <a:defRPr b="1" i="0" strike="noStrike" sz="12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Sheet1!$C$2:$C$8</c:f>
              <c:numCache>
                <c:formatCode>General</c:formatCode>
                <c:ptCount val="7"/>
                <c:pt idx="0">
                  <c:v>0</c:v>
                </c:pt>
                <c:pt idx="1">
                  <c:v>0</c:v>
                </c:pt>
                <c:pt idx="2">
                  <c:v>0</c:v>
                </c:pt>
                <c:pt idx="3">
                  <c:v>0</c:v>
                </c:pt>
                <c:pt idx="4">
                  <c:v>0</c:v>
                </c:pt>
                <c:pt idx="5">
                  <c:v>35.2</c:v>
                </c:pt>
                <c:pt idx="6">
                  <c:v>30.8</c:v>
                </c:pt>
              </c:numCache>
            </c:numRef>
          </c:val>
        </c:ser>
        <c:dLbls>
          <c:numFmt formatCode="&quot;₹&quot;0.0&quot; L&quot;;;;" sourceLinked="0"/>
          <c:txPr>
            <a:bodyPr/>
            <a:lstStyle/>
            <a:p>
              <a:pPr>
                <a:defRPr b="1" i="0" strike="noStrike" sz="12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400" b="0" i="0" u="none" strike="noStrike">
                <a:solidFill>
                  <a:srgbClr val="5F6368"/>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1E0D9"/>
              </a:solidFill>
              <a:prstDash val="solid"/>
              <a:round/>
            </a:ln>
          </c:spPr>
        </c:majorGridlines>
        <c:numFmt formatCode="&quot;₹&quot;0&quot; L&quot;" sourceLinked="0"/>
        <c:majorTickMark val="out"/>
        <c:minorTickMark val="none"/>
        <c:tickLblPos val="nextTo"/>
        <c:spPr>
          <a:ln w="12700" cap="flat">
            <a:noFill/>
            <a:prstDash val="solid"/>
            <a:round/>
          </a:ln>
        </c:spPr>
        <c:txPr>
          <a:bodyPr/>
          <a:lstStyle/>
          <a:p>
            <a:pPr>
              <a:defRPr sz="1000" b="0" i="0" u="none" strike="noStrike">
                <a:solidFill>
                  <a:srgbClr val="5F6368"/>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Full price</c:v>
                </c:pt>
              </c:strCache>
            </c:strRef>
          </c:tx>
          <c:spPr>
            <a:solidFill>
              <a:srgbClr val="A8A69E"/>
            </a:solidFill>
            <a:effectLst/>
          </c:spPr>
          <c:invertIfNegative val="0"/>
          <c:dLbls>
            <c:numFmt formatCode="&quot;₹&quot;#,##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Sheet1!$A$2:$A$6</c:f>
              <c:multiLvlStrCache>
                <c:ptCount val="5"/>
                <c:lvl>
                  <c:pt idx="0">
                    <c:v>0%</c:v>
                  </c:pt>
                  <c:pt idx="1">
                    <c:v>5%</c:v>
                  </c:pt>
                  <c:pt idx="2">
                    <c:v>10%</c:v>
                  </c:pt>
                  <c:pt idx="3">
                    <c:v>15%</c:v>
                  </c:pt>
                  <c:pt idx="4">
                    <c:v>20%</c:v>
                  </c:pt>
                </c:lvl>
              </c:multiLvlStrCache>
            </c:multiLvlStrRef>
          </c:cat>
          <c:val>
            <c:numRef>
              <c:f>Sheet1!$B$2:$B$6</c:f>
              <c:numCache>
                <c:formatCode>General</c:formatCode>
                <c:ptCount val="5"/>
                <c:pt idx="0">
                  <c:v>4686</c:v>
                </c:pt>
                <c:pt idx="1">
                  <c:v>0</c:v>
                </c:pt>
                <c:pt idx="2">
                  <c:v>0</c:v>
                </c:pt>
                <c:pt idx="3">
                  <c:v>0</c:v>
                </c:pt>
                <c:pt idx="4">
                  <c:v>0</c:v>
                </c:pt>
              </c:numCache>
            </c:numRef>
          </c:val>
        </c:ser>
        <c:ser>
          <c:idx val="1"/>
          <c:order val="1"/>
          <c:tx>
            <c:strRef>
              <c:f>Sheet1!$C$1</c:f>
              <c:strCache>
                <c:ptCount val="1"/>
                <c:pt idx="0">
                  <c:v>Discounted</c:v>
                </c:pt>
              </c:strCache>
            </c:strRef>
          </c:tx>
          <c:spPr>
            <a:solidFill>
              <a:srgbClr val="D03B3B"/>
            </a:solidFill>
            <a:effectLst/>
          </c:spPr>
          <c:invertIfNegative val="0"/>
          <c:dLbls>
            <c:numFmt formatCode="&quot;₹&quot;#,##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Sheet1!$A$2:$A$6</c:f>
              <c:multiLvlStrCache>
                <c:ptCount val="5"/>
                <c:lvl>
                  <c:pt idx="0">
                    <c:v>0%</c:v>
                  </c:pt>
                  <c:pt idx="1">
                    <c:v>5%</c:v>
                  </c:pt>
                  <c:pt idx="2">
                    <c:v>10%</c:v>
                  </c:pt>
                  <c:pt idx="3">
                    <c:v>15%</c:v>
                  </c:pt>
                  <c:pt idx="4">
                    <c:v>20%</c:v>
                  </c:pt>
                </c:lvl>
              </c:multiLvlStrCache>
            </c:multiLvlStrRef>
          </c:cat>
          <c:val>
            <c:numRef>
              <c:f>Sheet1!$C$2:$C$6</c:f>
              <c:numCache>
                <c:formatCode>General</c:formatCode>
                <c:ptCount val="5"/>
                <c:pt idx="0">
                  <c:v>0</c:v>
                </c:pt>
                <c:pt idx="1">
                  <c:v>4304</c:v>
                </c:pt>
                <c:pt idx="2">
                  <c:v>4006</c:v>
                </c:pt>
                <c:pt idx="3">
                  <c:v>4069</c:v>
                </c:pt>
                <c:pt idx="4">
                  <c:v>3632</c:v>
                </c:pt>
              </c:numCache>
            </c:numRef>
          </c:val>
        </c:ser>
        <c:dLbls>
          <c:numFmt formatCode="&quot;₹&quot;#,##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title>
          <c:tx>
            <c:rich>
              <a:bodyPr/>
              <a:lstStyle/>
              <a:p>
                <a:pPr>
                  <a:defRPr sz="1200" b="0" i="0" u="none" strike="noStrike">
                    <a:solidFill>
                      <a:srgbClr val="5F6368"/>
                    </a:solidFill>
                    <a:latin typeface="Arial"/>
                  </a:defRPr>
                </a:pPr>
                <a:r>
                  <a:rPr sz="1200" b="0" i="0" u="none" strike="noStrike">
                    <a:solidFill>
                      <a:srgbClr val="5F6368"/>
                    </a:solidFill>
                    <a:latin typeface="Arial"/>
                  </a:rPr>
                  <a:t>Discount on the bill</a:t>
                </a:r>
              </a:p>
            </c:rich>
          </c:tx>
          <c:layout/>
          <c:overlay val="0"/>
        </c:title>
        <c:numFmt formatCode="General" sourceLinked="1"/>
        <c:majorTickMark val="out"/>
        <c:minorTickMark val="none"/>
        <c:tickLblPos val="low"/>
        <c:spPr>
          <a:ln w="12700" cap="flat">
            <a:solidFill>
              <a:srgbClr val="C3C2B7"/>
            </a:solidFill>
            <a:prstDash val="solid"/>
            <a:round/>
          </a:ln>
        </c:spPr>
        <c:txPr>
          <a:bodyPr/>
          <a:lstStyle/>
          <a:p>
            <a:pPr>
              <a:defRPr sz="1400" b="0" i="0" u="none" strike="noStrike">
                <a:solidFill>
                  <a:srgbClr val="5F6368"/>
                </a:solidFill>
                <a:latin typeface="Calibri"/>
              </a:defRPr>
            </a:pPr>
            <a:endParaRPr lang="en-US"/>
          </a:p>
        </c:txPr>
        <c:crossAx val="2094734552"/>
        <c:crosses val="autoZero"/>
        <c:auto val="1"/>
        <c:lblAlgn val="ctr"/>
        <c:noMultiLvlLbl val="1"/>
      </c:catAx>
      <c:valAx>
        <c:axId val="2094734552"/>
        <c:scaling>
          <c:orientation val="minMax"/>
          <c:max val="5000"/>
          <c:min val="0"/>
        </c:scaling>
        <c:delete val="0"/>
        <c:axPos val="l"/>
        <c:majorGridlines>
          <c:spPr>
            <a:ln w="6350" cap="flat">
              <a:solidFill>
                <a:srgbClr val="E1E0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000" b="0" i="0" u="none" strike="noStrike">
                <a:solidFill>
                  <a:srgbClr val="5F6368"/>
                </a:solidFill>
                <a:latin typeface="Calibri"/>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Saalif Udyawar  ·  TIME: 45 sec
POINT AT: The four numbers in the middle, then the team names.
[Background story] Good morning, everyone. We are Group 10 — Jakkana Hasini, Mohammed Mutee Ruknuddin, and I am Mohammed Saalif Udyawar. Our project is called Category Intelligence. Imagine a retail chain with 12 stores in six cities of Andhra Pradesh — Vijayawada, Guntur, Rajahmundry, Tirupati, Nellore and Kakinada. In the first six months of 2026 it made ₹45.98 crore from 1,07,836 transactions, across 25 products in five categories.
[What was missing] Next week, the chain's Category Manager meets her suppliers — and she does not yet have a clear, data-backed view of her own business.
[What we did] We analysed all six months of sales to give her that view.
[Impact] By the end, you will know which category to back, which supplier to challenge, and what we suggest doing about discounts.
HANDOVER: Let me start with the problem we were asked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Saalif Udyawar  ·  TIME: 1 min
POINT AT: Each of the four cards, left to right, top to bottom.
[Background story] Every quarter, suppliers come to this meeting and ask for two things: more shelf space and more promotion money.
[What was missing] The manager had six months of raw data, but no clear picture of which categories and products had actually earned that space. Without facts, the suppliers would set the agenda.
[What we did] At the start of the project, the three of us filled in a CBIM Problem Canvas together.
[How we did it] It has six boxes: the Situation, the Complication, the Question, the single source of truth — our one CSV file — what Success looks like, and who the Stakeholder is: the Category Manager.
[Why we did it] It made us agree on the decision before looking at the data. Our question was not 'analyse the data'. It was: which category do we back, which supplier do we challenge, and are discounts earning money or wasting it?
[Impact] Every chart you will see today answers one of these questions.
HANDOVER: Here is how we worked,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Saalif Udyawar  ·  TIME: 1 min
POINT AT: Follow the six circles from left to right, including the name under each; then the grey box.
[What we did] We followed six steps, from raw data to a decision: check the data, study category trends, rank the products, test the discounts, look at days and months, and finally write the briefing.
[How we did it] We used Python in a Jupyter notebook — pandas for the tables, Matplotlib and Seaborn for the charts. Every step has code, a chart, and a plain-English explanation of what it means for the business.
[Who did what] I handled the problem canvas, the data check, the category trends and the product ranking. Hasini studied the busy days and months. Mutee analysed the discounts and turned everything into the final recommendation. Each of us also checked a section written by someone else.
[Why we did it this way] We set three rules for every chart. The title states the finding. Colours mean the same thing everywhere: blue is growing, red is falling, grey is stable. And money is shown in lakh and crore.
[Impact] A busy manager can understand every chart in one look. And the whole notebook re-runs from the start without errors.
HANDOVER: Before trusting any chart, we had to trust the data — so that is where we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Saalif Udyawar  ·  TIME: 1 min 30 sec
POINT AT: The long blue Electronics bar, then the long grey Grocery bar; then the three cards on the right.
[Background story] Before trusting any chart, we had to trust the data.
[What we did] We checked all 1,07,836 rows.
[How we did it] There were no missing values and no duplicate transactions. Then we recalculated revenue ourselves — units times price, minus the discount — and it matched the dataset to within half a paisa.
[What is not there] The data has no product cost, so no profit; no footfall; and no competitor prices. And although the brief mentions discounts up to 30%, the highest discount in the data is 20%.
[What we found] Electronics is only 4% of transactions but 49% of all revenue. Grocery is the opposite — half of all transactions, but only 9% of revenue. An average Electronics transaction is ₹56,420; an average Grocery transaction is ₹781.
[Why it matters] This shows which category drives the money, and which drives the number of transactions.
[Impact] Even a small change in Electronics moves the whole chain. And Grocery accounts for half of all transactions — although this data cannot show how many store visits it drives.
HANDOVER: So Electronics is the biggest category. But is it growing or shrinking?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Saalif Udyawar  ·  TIME: 1 min 30 sec
POINT AT: The top red line (Electronics) from left to right; then the blue line (Apparel); then the '+1.3%' card.
[Background story] The first thing the manager needs to know is which categories are growing and which are falling.
[What we did] We added up the revenue of every category for every month, from January to June.
[How we did it] We used a pivot table, calculated the change from January to June, and measured how consistent each category is. Red lines are falling, the blue line is growing, grey lines are stable.
[What we found] Electronics fell from ₹4.57 crore in January to ₹2.97 crore in June — down 35%. In other words, June's revenue was ₹1.60 crore below January's. Apparel went the other way: from ₹1.01 crore to ₹1.35 crore, up 34%, and recorded Apparel transactions rose 31% — though we would need customer and seasonal data to explain why. Grocery is the most consistent category: it has the lowest coefficient of variation in monthly revenue, 3.9%.
[Why we dug deeper] We checked what moved. Electronics transactions fell 33%, but prices moved only about 2%. So the fall came from fewer transactions, not lower prices. What the data cannot tell us is why — stock availability, competition, pricing or customer demand are all possible.
[The key fact] The whole chain fell 18%. But without Electronics, the other four categories together grew 1.3%. Electronics accounts for the chain's decline.
[What is not there] To find the cause, we would need stock, competitor and online price data — none of which is in this dataset.
[Impact] The supplier meeting must focus on Electronics — and Apparel has the strongest case for more shelf space.
HANDOVER: Next: which products are driving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Saalif Udyawar  ·  TIME: 1 min 30 sec
POINT AT: The long red bar at the bottom (Mobile Phone); then the blue bars at the top; then 'The hidden problem' card.
[What we did] The assignment asked for the top 2 and bottom 2 products in each category by total revenue. We built that table.
[What was missing] But inside each category, the five products earn almost the same amount — in Grocery, the best and worst are only 2% apart. So that table alone does not show where the real problem is.
[How we did it] So we also measured each product's direction — its change from January to June — sorted from the fastest-growing at the top to the fastest-falling at the bottom.
[What we found] Mobile Phone is the worst of all 25 products: from ₹98 lakh in January to ₹42 lakh in June — down 57% — and its transactions roughly halved, from 177 to 87. But it ranks 3rd by total revenue, so the top-2, bottom-2 table would have missed it. Every Electronics product fell, and every Apparel product grew.
[Why we checked the cities] Electronics fell in all six cities — so the problem is not confined to one store.
[Impact] Our recommendation: challenge the Electronics supplier, starting with Mobile Phones, and ask them to explain range, availability and pricing. If there is no recovery plan, Smart TV and Tablet — the bottom two by total — lose shelf space first.
HANDOVER: So we know what is growing and what is falling. But when do customers shop? Hasini will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Jakkana Hasini  ·  TIME: 2 min
POINT AT: The two blue weekend bars, then the Monday bar; then the small 'Chain vs Apparel' table.
[Background story] Thank you, Saalif. I will talk about timing — which days and months are busy, and which are quiet.
[What was missing] Suppliers want to run promotions, but nobody had checked when the stores are naturally busy.
[What we did] I looked at the average sales for each day of the week, and the total sales for each month.
[How we did it] For each weekday, I took the average of all the Mondays, all the Tuesdays, and so on. I used the average because some weekdays appear 25 times and some 26 times. For months, I also looked at sales per day, because February is shorter.
[What we found] Saturday is the best day — ₹35.2 lakh a day. Monday is the quietest — ₹20.1 lakh. So Saturday is 75% higher. January was the best month, at ₹8.48 crore, and June was the lowest, at ₹6.93 crore.
[Apparel] Then I looked at Apparel, because it is the only category that is growing. It has the same weekly pattern — busy Saturday, quiet Monday. But it grows overall, despite a small dip in February. Its best month is June.
[What is not there] We only have six months, so we cannot say yet whether Apparel's growth is seasonal. And the data does not show what a promotion adds.
[Impact] So our suggestion is simple: test promotions on the quiet days, Monday to Thursday, and measure the result. And give Apparel more stock rather than bigger discounts.
HANDOVER: Weekends are busy — but do discounts actually help? Mutee will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Mutee Ruknuddin  ·  TIME: 1 min 30 sec
POINT AT: The grey full-price bar, then the red 20% bar; then the '≈ 2.6' card.
[Background story] Thank you, Hasini. Suppliers always ask for discount money.
[What was missing] Two out of three transactions in this chain carry a discount, every month — but no one had checked whether deeper discounts come with bigger baskets.
[What we did] We grouped every transaction by its exact discount: 0, 5, 10, 15 and 20 percent. We kept a 25%-plus group too, but there were none in it.
[How we did it] For each group we compared two things: revenue per transaction, and units per transaction.
[Why we did it] If deeper discounts worked on basket size, customers would buy more units at higher discounts.
[What we found] Not in this data. A full-price transaction brings in ₹4,686; a 20%-off transaction brings in ₹3,632 — 22% less — and units stay at about 2.6 either way. Revenue per transaction is generally lower at higher discounts; the 15% group is slightly above the 10% group. Prices before discount were similar across groups, but product mix could still play a part, so we do not claim the discount alone caused the gap. The same pattern shows up within every category. In six months the chain recorded ₹3.56 crore of discounts, ₹1.76 crore of them on Electronics.
[What is not there] We cannot see whether a discount brought in an extra customer — that needs footfall data.
[Impact] Our position: higher discounts are associated with lower revenue per transaction without more units. That supports challenging deeper discounts — but it does not prove their effect on total demand or profit. So we propose trialling a 10% cap on store-funded discounts, with deeper discounts paid by suppliers and tied to a sales target.
HANDOVER: Now let me bring everything together into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Mutee Ruknuddin  ·  TIME: 1 min 30 sec
POINT AT: Go down the five coloured circles; then the three orange proposals on the right.
[What we did] We gave each category a clear verdict, combining the trends, the products, the timing and the discounts.
[The verdicts] Invest in Apparel — more shelf space and stock, starting with Jeans and T-Shirts, which grew 32% and 30% from the first quarter to the second. Challenge Electronics — ask the supplier to explain the decline, and reduce Mobile Phone and Tablet orders towards what is selling now; keep Headphones, the mildest Electronics decline. Watch Home &amp; Kitchen, down 18%. Hold Grocery, which is half of all transactions and the most stable category. Hold Personal Care.
[The three proposals] Trial a 10% cap on store-funded discounts — as an illustration, about ₹83.7 lakh of discount would not have been given in six months. Test weekday promotions against control stores. And send extra Apparel stock first to Guntur, Kakinada and Tirupati, where it is growing fastest.
[Why we did it] A manager needs a position, not just data.
[What is not there] These decisions are based on revenue, not profit, because the data has no cost prices. So our rule is: reduce first, delist later.
[Impact] As a simple illustration: if June's level repeated for six months, Electronics would bring in about ₹4.8 crore less than in the first half. On the same arithmetic, Apparel would bring in about ₹1.1 crore more — if it stays in stock.
HANDOVER: So what would we actually say in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Mohammed Mutee Ruknuddin  ·  TIME: 1 min
POINT AT: The four cards in order; then the orange line at the bottom.
[Background story] Walking into the supplier meeting, we would say four things.
[What we recommend] One: back Apparel — revenue up 34%, with every product growing. Two: challenge Electronics, starting with Mobile Phones — from ₹98 lakh to ₹42 lakh a month — and ask the supplier to explain range, availability and pricing. Three: a 20%-off transaction brings in ₹3,632 against ₹4,686 at full price, with about the same number of units — so we push deeper discounts onto suppliers and trial a 10% cap.
[What is not there] Four: before any final cuts, we need product cost and margin data, to be sure we increase profit and not just revenue.
[Impact] In one line: reduce what is falling, stock what is growing, hold what is stable, and test — rather than assume — the value of deeper discounts.
[Close] Thank you. We are happy to take your questions.
HANDOVER: Mutee leads the questions and passes each one to the team member who owns that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12B"/>
        </a:solidFill>
      </p:bgPr>
    </p:bg>
    <p:spTree>
      <p:nvGrpSpPr>
        <p:cNvPr id="1" name=""/>
        <p:cNvGrpSpPr/>
        <p:nvPr/>
      </p:nvGrpSpPr>
      <p:grpSpPr>
        <a:xfrm>
          <a:off x="0" y="0"/>
          <a:ext cx="0" cy="0"/>
          <a:chOff x="0" y="0"/>
          <a:chExt cx="0" cy="0"/>
        </a:xfrm>
      </p:grpSpPr>
      <p:sp>
        <p:nvSpPr>
          <p:cNvPr id="2" name="Text 0"/>
          <p:cNvSpPr txBox="1"/>
          <p:nvPr/>
        </p:nvSpPr>
        <p:spPr>
          <a:xfrm>
            <a:off x="640080" y="640080"/>
            <a:ext cx="1088136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CALIBO AI ACADEMY · PATH 2 · KLU BATCH · MINI USE CASE 01</a:t>
            </a:r>
            <a:endParaRPr lang="en-US" sz="1300" dirty="0"/>
          </a:p>
        </p:txBody>
      </p:sp>
      <p:sp>
        <p:nvSpPr>
          <p:cNvPr id="3" name="Text 1"/>
          <p:cNvSpPr txBox="1"/>
          <p:nvPr/>
        </p:nvSpPr>
        <p:spPr>
          <a:xfrm>
            <a:off x="640080" y="1234440"/>
            <a:ext cx="1088136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Category Intelligence</a:t>
            </a:r>
            <a:endParaRPr lang="en-US" sz="5400" dirty="0"/>
          </a:p>
        </p:txBody>
      </p:sp>
      <p:sp>
        <p:nvSpPr>
          <p:cNvPr id="4" name="Text 2"/>
          <p:cNvSpPr txBox="1"/>
          <p:nvPr/>
        </p:nvSpPr>
        <p:spPr>
          <a:xfrm>
            <a:off x="640080" y="2240280"/>
            <a:ext cx="9601200" cy="822960"/>
          </a:xfrm>
          <a:prstGeom prst="rect">
            <a:avLst/>
          </a:prstGeom>
          <a:noFill/>
          <a:ln/>
        </p:spPr>
        <p:txBody>
          <a:bodyPr wrap="square" lIns="0" tIns="0" rIns="0" bIns="0" rtlCol="0" anchor="ctr"/>
          <a:lstStyle/>
          <a:p>
            <a:pPr indent="0" marL="0">
              <a:buNone/>
            </a:pPr>
            <a:r>
              <a:rPr lang="en-US" sz="2000" dirty="0">
                <a:solidFill>
                  <a:srgbClr val="C9CED6"/>
                </a:solidFill>
                <a:latin typeface="Calibri" pitchFamily="34" charset="0"/>
                <a:ea typeface="Calibri" pitchFamily="34" charset="-122"/>
                <a:cs typeface="Calibri" pitchFamily="34" charset="-120"/>
              </a:rPr>
              <a:t>Retail product performance EDA — what the Category Manager should take into next week's supplier review</a:t>
            </a:r>
            <a:endParaRPr lang="en-US" sz="2000" dirty="0"/>
          </a:p>
        </p:txBody>
      </p:sp>
      <p:sp>
        <p:nvSpPr>
          <p:cNvPr id="5" name="Text 3"/>
          <p:cNvSpPr txBox="1"/>
          <p:nvPr/>
        </p:nvSpPr>
        <p:spPr>
          <a:xfrm>
            <a:off x="640080" y="3520440"/>
            <a:ext cx="2560320" cy="548640"/>
          </a:xfrm>
          <a:prstGeom prst="rect">
            <a:avLst/>
          </a:prstGeom>
          <a:noFill/>
          <a:ln/>
        </p:spPr>
        <p:txBody>
          <a:bodyPr wrap="square" lIns="0" tIns="0" rIns="0" bIns="0" rtlCol="0" anchor="ctr"/>
          <a:lstStyle/>
          <a:p>
            <a:pPr indent="0" marL="0">
              <a:buNone/>
            </a:pPr>
            <a:r>
              <a:rPr lang="en-US" sz="2800" b="1" dirty="0">
                <a:solidFill>
                  <a:srgbClr val="E8A33D"/>
                </a:solidFill>
                <a:latin typeface="Cambria" pitchFamily="34" charset="0"/>
                <a:ea typeface="Cambria" pitchFamily="34" charset="-122"/>
                <a:cs typeface="Cambria" pitchFamily="34" charset="-120"/>
              </a:rPr>
              <a:t>₹45.98 Cr</a:t>
            </a:r>
            <a:endParaRPr lang="en-US" sz="2800" dirty="0"/>
          </a:p>
        </p:txBody>
      </p:sp>
      <p:sp>
        <p:nvSpPr>
          <p:cNvPr id="6" name="Text 4"/>
          <p:cNvSpPr txBox="1"/>
          <p:nvPr/>
        </p:nvSpPr>
        <p:spPr>
          <a:xfrm>
            <a:off x="640080" y="4069080"/>
            <a:ext cx="2560320" cy="365760"/>
          </a:xfrm>
          <a:prstGeom prst="rect">
            <a:avLst/>
          </a:prstGeom>
          <a:noFill/>
          <a:ln/>
        </p:spPr>
        <p:txBody>
          <a:bodyPr wrap="square" lIns="0" tIns="0" rIns="0" bIns="0" rtlCol="0" anchor="ctr"/>
          <a:lstStyle/>
          <a:p>
            <a:pPr indent="0" marL="0">
              <a:buNone/>
            </a:pPr>
            <a:r>
              <a:rPr lang="en-US" sz="1300" dirty="0">
                <a:solidFill>
                  <a:srgbClr val="C9CED6"/>
                </a:solidFill>
                <a:latin typeface="Calibri" pitchFamily="34" charset="0"/>
                <a:ea typeface="Calibri" pitchFamily="34" charset="-122"/>
                <a:cs typeface="Calibri" pitchFamily="34" charset="-120"/>
              </a:rPr>
              <a:t>revenue, Jan–Jun 2026</a:t>
            </a:r>
            <a:endParaRPr lang="en-US" sz="1300" dirty="0"/>
          </a:p>
        </p:txBody>
      </p:sp>
      <p:sp>
        <p:nvSpPr>
          <p:cNvPr id="7" name="Text 5"/>
          <p:cNvSpPr txBox="1"/>
          <p:nvPr/>
        </p:nvSpPr>
        <p:spPr>
          <a:xfrm>
            <a:off x="3383280" y="3520440"/>
            <a:ext cx="2560320" cy="548640"/>
          </a:xfrm>
          <a:prstGeom prst="rect">
            <a:avLst/>
          </a:prstGeom>
          <a:noFill/>
          <a:ln/>
        </p:spPr>
        <p:txBody>
          <a:bodyPr wrap="square" lIns="0" tIns="0" rIns="0" bIns="0" rtlCol="0" anchor="ctr"/>
          <a:lstStyle/>
          <a:p>
            <a:pPr indent="0" marL="0">
              <a:buNone/>
            </a:pPr>
            <a:r>
              <a:rPr lang="en-US" sz="2800" b="1" dirty="0">
                <a:solidFill>
                  <a:srgbClr val="E8A33D"/>
                </a:solidFill>
                <a:latin typeface="Cambria" pitchFamily="34" charset="0"/>
                <a:ea typeface="Cambria" pitchFamily="34" charset="-122"/>
                <a:cs typeface="Cambria" pitchFamily="34" charset="-120"/>
              </a:rPr>
              <a:t>107,836</a:t>
            </a:r>
            <a:endParaRPr lang="en-US" sz="2800" dirty="0"/>
          </a:p>
        </p:txBody>
      </p:sp>
      <p:sp>
        <p:nvSpPr>
          <p:cNvPr id="8" name="Text 6"/>
          <p:cNvSpPr txBox="1"/>
          <p:nvPr/>
        </p:nvSpPr>
        <p:spPr>
          <a:xfrm>
            <a:off x="3383280" y="4069080"/>
            <a:ext cx="2560320" cy="365760"/>
          </a:xfrm>
          <a:prstGeom prst="rect">
            <a:avLst/>
          </a:prstGeom>
          <a:noFill/>
          <a:ln/>
        </p:spPr>
        <p:txBody>
          <a:bodyPr wrap="square" lIns="0" tIns="0" rIns="0" bIns="0" rtlCol="0" anchor="ctr"/>
          <a:lstStyle/>
          <a:p>
            <a:pPr indent="0" marL="0">
              <a:buNone/>
            </a:pPr>
            <a:r>
              <a:rPr lang="en-US" sz="1300" dirty="0">
                <a:solidFill>
                  <a:srgbClr val="C9CED6"/>
                </a:solidFill>
                <a:latin typeface="Calibri" pitchFamily="34" charset="0"/>
                <a:ea typeface="Calibri" pitchFamily="34" charset="-122"/>
                <a:cs typeface="Calibri" pitchFamily="34" charset="-120"/>
              </a:rPr>
              <a:t>transactions</a:t>
            </a:r>
            <a:endParaRPr lang="en-US" sz="1300" dirty="0"/>
          </a:p>
        </p:txBody>
      </p:sp>
      <p:sp>
        <p:nvSpPr>
          <p:cNvPr id="9" name="Text 7"/>
          <p:cNvSpPr txBox="1"/>
          <p:nvPr/>
        </p:nvSpPr>
        <p:spPr>
          <a:xfrm>
            <a:off x="6126480" y="3520440"/>
            <a:ext cx="2560320" cy="548640"/>
          </a:xfrm>
          <a:prstGeom prst="rect">
            <a:avLst/>
          </a:prstGeom>
          <a:noFill/>
          <a:ln/>
        </p:spPr>
        <p:txBody>
          <a:bodyPr wrap="square" lIns="0" tIns="0" rIns="0" bIns="0" rtlCol="0" anchor="ctr"/>
          <a:lstStyle/>
          <a:p>
            <a:pPr indent="0" marL="0">
              <a:buNone/>
            </a:pPr>
            <a:r>
              <a:rPr lang="en-US" sz="2800" b="1" dirty="0">
                <a:solidFill>
                  <a:srgbClr val="E8A33D"/>
                </a:solidFill>
                <a:latin typeface="Cambria" pitchFamily="34" charset="0"/>
                <a:ea typeface="Cambria" pitchFamily="34" charset="-122"/>
                <a:cs typeface="Cambria" pitchFamily="34" charset="-120"/>
              </a:rPr>
              <a:t>12 stores</a:t>
            </a:r>
            <a:endParaRPr lang="en-US" sz="2800" dirty="0"/>
          </a:p>
        </p:txBody>
      </p:sp>
      <p:sp>
        <p:nvSpPr>
          <p:cNvPr id="10" name="Text 8"/>
          <p:cNvSpPr txBox="1"/>
          <p:nvPr/>
        </p:nvSpPr>
        <p:spPr>
          <a:xfrm>
            <a:off x="6126480" y="4069080"/>
            <a:ext cx="2560320" cy="365760"/>
          </a:xfrm>
          <a:prstGeom prst="rect">
            <a:avLst/>
          </a:prstGeom>
          <a:noFill/>
          <a:ln/>
        </p:spPr>
        <p:txBody>
          <a:bodyPr wrap="square" lIns="0" tIns="0" rIns="0" bIns="0" rtlCol="0" anchor="ctr"/>
          <a:lstStyle/>
          <a:p>
            <a:pPr indent="0" marL="0">
              <a:buNone/>
            </a:pPr>
            <a:r>
              <a:rPr lang="en-US" sz="1300" dirty="0">
                <a:solidFill>
                  <a:srgbClr val="C9CED6"/>
                </a:solidFill>
                <a:latin typeface="Calibri" pitchFamily="34" charset="0"/>
                <a:ea typeface="Calibri" pitchFamily="34" charset="-122"/>
                <a:cs typeface="Calibri" pitchFamily="34" charset="-120"/>
              </a:rPr>
              <a:t>6 cities in Andhra Pradesh</a:t>
            </a:r>
            <a:endParaRPr lang="en-US" sz="1300" dirty="0"/>
          </a:p>
        </p:txBody>
      </p:sp>
      <p:sp>
        <p:nvSpPr>
          <p:cNvPr id="11" name="Text 9"/>
          <p:cNvSpPr txBox="1"/>
          <p:nvPr/>
        </p:nvSpPr>
        <p:spPr>
          <a:xfrm>
            <a:off x="8869680" y="3520440"/>
            <a:ext cx="2560320" cy="548640"/>
          </a:xfrm>
          <a:prstGeom prst="rect">
            <a:avLst/>
          </a:prstGeom>
          <a:noFill/>
          <a:ln/>
        </p:spPr>
        <p:txBody>
          <a:bodyPr wrap="square" lIns="0" tIns="0" rIns="0" bIns="0" rtlCol="0" anchor="ctr"/>
          <a:lstStyle/>
          <a:p>
            <a:pPr indent="0" marL="0">
              <a:buNone/>
            </a:pPr>
            <a:r>
              <a:rPr lang="en-US" sz="2800" b="1" dirty="0">
                <a:solidFill>
                  <a:srgbClr val="E8A33D"/>
                </a:solidFill>
                <a:latin typeface="Cambria" pitchFamily="34" charset="0"/>
                <a:ea typeface="Cambria" pitchFamily="34" charset="-122"/>
                <a:cs typeface="Cambria" pitchFamily="34" charset="-120"/>
              </a:rPr>
              <a:t>25 products</a:t>
            </a:r>
            <a:endParaRPr lang="en-US" sz="2800" dirty="0"/>
          </a:p>
        </p:txBody>
      </p:sp>
      <p:sp>
        <p:nvSpPr>
          <p:cNvPr id="12" name="Text 10"/>
          <p:cNvSpPr txBox="1"/>
          <p:nvPr/>
        </p:nvSpPr>
        <p:spPr>
          <a:xfrm>
            <a:off x="8869680" y="4069080"/>
            <a:ext cx="2560320" cy="365760"/>
          </a:xfrm>
          <a:prstGeom prst="rect">
            <a:avLst/>
          </a:prstGeom>
          <a:noFill/>
          <a:ln/>
        </p:spPr>
        <p:txBody>
          <a:bodyPr wrap="square" lIns="0" tIns="0" rIns="0" bIns="0" rtlCol="0" anchor="ctr"/>
          <a:lstStyle/>
          <a:p>
            <a:pPr indent="0" marL="0">
              <a:buNone/>
            </a:pPr>
            <a:r>
              <a:rPr lang="en-US" sz="1300" dirty="0">
                <a:solidFill>
                  <a:srgbClr val="C9CED6"/>
                </a:solidFill>
                <a:latin typeface="Calibri" pitchFamily="34" charset="0"/>
                <a:ea typeface="Calibri" pitchFamily="34" charset="-122"/>
                <a:cs typeface="Calibri" pitchFamily="34" charset="-120"/>
              </a:rPr>
              <a:t>in 5 categories</a:t>
            </a:r>
            <a:endParaRPr lang="en-US" sz="1300" dirty="0"/>
          </a:p>
        </p:txBody>
      </p:sp>
      <p:sp>
        <p:nvSpPr>
          <p:cNvPr id="13" name="Text 11"/>
          <p:cNvSpPr txBox="1"/>
          <p:nvPr/>
        </p:nvSpPr>
        <p:spPr>
          <a:xfrm>
            <a:off x="640080" y="4983480"/>
            <a:ext cx="45720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GROUP 10</a:t>
            </a:r>
            <a:endParaRPr lang="en-US" sz="1200" dirty="0"/>
          </a:p>
        </p:txBody>
      </p:sp>
      <p:sp>
        <p:nvSpPr>
          <p:cNvPr id="14" name="Text 12"/>
          <p:cNvSpPr txBox="1"/>
          <p:nvPr/>
        </p:nvSpPr>
        <p:spPr>
          <a:xfrm>
            <a:off x="640080" y="5303520"/>
            <a:ext cx="7315200" cy="1097280"/>
          </a:xfrm>
          <a:prstGeom prst="rect">
            <a:avLst/>
          </a:prstGeom>
          <a:noFill/>
          <a:ln/>
        </p:spPr>
        <p:txBody>
          <a:bodyPr wrap="square" lIns="0" tIns="0" rIns="0" bIns="0" rtlCol="0" anchor="ctr"/>
          <a:lstStyle/>
          <a:p>
            <a:pPr indent="0" marL="0">
              <a:spcAft>
                <a:spcPts val="200"/>
              </a:spcAft>
              <a:buNone/>
            </a:pPr>
            <a:r>
              <a:rPr lang="en-US" sz="1700" dirty="0">
                <a:solidFill>
                  <a:srgbClr val="FFFFFF"/>
                </a:solidFill>
                <a:latin typeface="Calibri" pitchFamily="34" charset="0"/>
                <a:ea typeface="Calibri" pitchFamily="34" charset="-122"/>
                <a:cs typeface="Calibri" pitchFamily="34" charset="-120"/>
              </a:rPr>
              <a:t>Mohammed Saalif Udyawar</a:t>
            </a:r>
            <a:pPr indent="0" marL="0">
              <a:spcAft>
                <a:spcPts val="200"/>
              </a:spcAft>
              <a:buNone/>
            </a:pPr>
            <a:r>
              <a:rPr lang="en-US" sz="1700" dirty="0">
                <a:solidFill>
                  <a:srgbClr val="9AA3AE"/>
                </a:solidFill>
                <a:latin typeface="Calibri" pitchFamily="34" charset="0"/>
                <a:ea typeface="Calibri" pitchFamily="34" charset="-122"/>
                <a:cs typeface="Calibri" pitchFamily="34" charset="-120"/>
              </a:rPr>
              <a:t>  ·  Data Analyst</a:t>
            </a:r>
            <a:endParaRPr lang="en-US" sz="1700" dirty="0"/>
          </a:p>
          <a:p>
            <a:pPr indent="0" marL="0">
              <a:spcAft>
                <a:spcPts val="200"/>
              </a:spcAft>
              <a:buNone/>
            </a:pPr>
            <a:r>
              <a:rPr lang="en-US" sz="1700" dirty="0">
                <a:solidFill>
                  <a:srgbClr val="FFFFFF"/>
                </a:solidFill>
                <a:latin typeface="Calibri" pitchFamily="34" charset="0"/>
                <a:ea typeface="Calibri" pitchFamily="34" charset="-122"/>
                <a:cs typeface="Calibri" pitchFamily="34" charset="-120"/>
              </a:rPr>
              <a:t>Jakkana Hasini</a:t>
            </a:r>
            <a:pPr indent="0" marL="0">
              <a:spcAft>
                <a:spcPts val="200"/>
              </a:spcAft>
              <a:buNone/>
            </a:pPr>
            <a:r>
              <a:rPr lang="en-US" sz="1700" dirty="0">
                <a:solidFill>
                  <a:srgbClr val="9AA3AE"/>
                </a:solidFill>
                <a:latin typeface="Calibri" pitchFamily="34" charset="0"/>
                <a:ea typeface="Calibri" pitchFamily="34" charset="-122"/>
                <a:cs typeface="Calibri" pitchFamily="34" charset="-120"/>
              </a:rPr>
              <a:t>  ·  Insights Lead</a:t>
            </a:r>
            <a:endParaRPr lang="en-US" sz="1700" dirty="0"/>
          </a:p>
          <a:p>
            <a:pPr indent="0" marL="0">
              <a:spcAft>
                <a:spcPts val="200"/>
              </a:spcAft>
              <a:buNone/>
            </a:pPr>
            <a:r>
              <a:rPr lang="en-US" sz="1700" dirty="0">
                <a:solidFill>
                  <a:srgbClr val="FFFFFF"/>
                </a:solidFill>
                <a:latin typeface="Calibri" pitchFamily="34" charset="0"/>
                <a:ea typeface="Calibri" pitchFamily="34" charset="-122"/>
                <a:cs typeface="Calibri" pitchFamily="34" charset="-120"/>
              </a:rPr>
              <a:t>Mohammed Mutee Ruknuddin</a:t>
            </a:r>
            <a:pPr indent="0" marL="0">
              <a:spcAft>
                <a:spcPts val="200"/>
              </a:spcAft>
              <a:buNone/>
            </a:pPr>
            <a:r>
              <a:rPr lang="en-US" sz="1700" dirty="0">
                <a:solidFill>
                  <a:srgbClr val="9AA3AE"/>
                </a:solidFill>
                <a:latin typeface="Calibri" pitchFamily="34" charset="0"/>
                <a:ea typeface="Calibri" pitchFamily="34" charset="-122"/>
                <a:cs typeface="Calibri" pitchFamily="34" charset="-120"/>
              </a:rPr>
              <a:t>  ·  Business Synthesiser</a:t>
            </a:r>
            <a:endParaRPr lang="en-US" sz="1700" dirty="0"/>
          </a:p>
        </p:txBody>
      </p:sp>
      <p:sp>
        <p:nvSpPr>
          <p:cNvPr id="15" name="Shape 13"/>
          <p:cNvSpPr/>
          <p:nvPr/>
        </p:nvSpPr>
        <p:spPr>
          <a:xfrm>
            <a:off x="9966960" y="4846320"/>
            <a:ext cx="1463040" cy="1463040"/>
          </a:xfrm>
          <a:prstGeom prst="ellipse">
            <a:avLst/>
          </a:prstGeom>
          <a:solidFill>
            <a:srgbClr val="26323F"/>
          </a:solidFill>
          <a:ln w="12700">
            <a:solidFill>
              <a:srgbClr val="26323F"/>
            </a:solidFill>
            <a:prstDash val="solid"/>
          </a:ln>
        </p:spPr>
      </p:sp>
      <p:pic>
        <p:nvPicPr>
          <p:cNvPr id="16" name="Image 0" descr="preencoded.png">    </p:cNvPr>
          <p:cNvPicPr>
            <a:picLocks noChangeAspect="1"/>
          </p:cNvPicPr>
          <p:nvPr/>
        </p:nvPicPr>
        <p:blipFill>
          <a:blip r:embed="rId1"/>
          <a:stretch>
            <a:fillRect/>
          </a:stretch>
        </p:blipFill>
        <p:spPr>
          <a:xfrm>
            <a:off x="10332720" y="521208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The problem we were asked to solve</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CBIM Problem Canvas — completed before the analysis</a:t>
            </a:r>
            <a:endParaRPr lang="en-US" sz="1500" dirty="0"/>
          </a:p>
        </p:txBody>
      </p:sp>
      <p:sp>
        <p:nvSpPr>
          <p:cNvPr id="4" name="Shape 2"/>
          <p:cNvSpPr/>
          <p:nvPr/>
        </p:nvSpPr>
        <p:spPr>
          <a:xfrm>
            <a:off x="548640" y="1645920"/>
            <a:ext cx="5440680" cy="1828800"/>
          </a:xfrm>
          <a:prstGeom prst="roundRect">
            <a:avLst>
              <a:gd name="adj" fmla="val 4000"/>
            </a:avLst>
          </a:prstGeom>
          <a:solidFill>
            <a:srgbClr val="F2F3F5"/>
          </a:solidFill>
          <a:ln w="12700">
            <a:solidFill>
              <a:srgbClr val="F2F3F5"/>
            </a:solidFill>
            <a:prstDash val="solid"/>
          </a:ln>
        </p:spPr>
      </p:sp>
      <p:sp>
        <p:nvSpPr>
          <p:cNvPr id="5" name="Shape 3"/>
          <p:cNvSpPr/>
          <p:nvPr/>
        </p:nvSpPr>
        <p:spPr>
          <a:xfrm>
            <a:off x="822960" y="1965960"/>
            <a:ext cx="685800" cy="685800"/>
          </a:xfrm>
          <a:prstGeom prst="ellipse">
            <a:avLst/>
          </a:prstGeom>
          <a:solidFill>
            <a:srgbClr val="2A78D6"/>
          </a:solidFill>
          <a:ln w="12700">
            <a:solidFill>
              <a:srgbClr val="2A78D6"/>
            </a:solidFill>
            <a:prstDash val="solid"/>
          </a:ln>
        </p:spPr>
      </p:sp>
      <p:pic>
        <p:nvPicPr>
          <p:cNvPr id="6" name="Image 0" descr="preencoded.png">    </p:cNvPr>
          <p:cNvPicPr>
            <a:picLocks noChangeAspect="1"/>
          </p:cNvPicPr>
          <p:nvPr/>
        </p:nvPicPr>
        <p:blipFill>
          <a:blip r:embed="rId1"/>
          <a:stretch>
            <a:fillRect/>
          </a:stretch>
        </p:blipFill>
        <p:spPr>
          <a:xfrm>
            <a:off x="994410" y="2137410"/>
            <a:ext cx="342900" cy="342900"/>
          </a:xfrm>
          <a:prstGeom prst="rect">
            <a:avLst/>
          </a:prstGeom>
        </p:spPr>
      </p:pic>
      <p:sp>
        <p:nvSpPr>
          <p:cNvPr id="7" name="Text 4"/>
          <p:cNvSpPr txBox="1"/>
          <p:nvPr/>
        </p:nvSpPr>
        <p:spPr>
          <a:xfrm>
            <a:off x="1737360" y="1920240"/>
            <a:ext cx="4023360" cy="411480"/>
          </a:xfrm>
          <a:prstGeom prst="rect">
            <a:avLst/>
          </a:prstGeom>
          <a:noFill/>
          <a:ln/>
        </p:spPr>
        <p:txBody>
          <a:bodyPr wrap="square" lIns="0" tIns="0" rIns="0" bIns="0" rtlCol="0" anchor="ctr"/>
          <a:lstStyle/>
          <a:p>
            <a:pPr indent="0" marL="0">
              <a:buNone/>
            </a:pPr>
            <a:r>
              <a:rPr lang="en-US" sz="2000" b="1" dirty="0">
                <a:solidFill>
                  <a:srgbClr val="1F2328"/>
                </a:solidFill>
                <a:latin typeface="Cambria" pitchFamily="34" charset="0"/>
                <a:ea typeface="Cambria" pitchFamily="34" charset="-122"/>
                <a:cs typeface="Cambria" pitchFamily="34" charset="-120"/>
              </a:rPr>
              <a:t>Situation</a:t>
            </a:r>
            <a:endParaRPr lang="en-US" sz="2000" dirty="0"/>
          </a:p>
        </p:txBody>
      </p:sp>
      <p:sp>
        <p:nvSpPr>
          <p:cNvPr id="8" name="Text 5"/>
          <p:cNvSpPr txBox="1"/>
          <p:nvPr/>
        </p:nvSpPr>
        <p:spPr>
          <a:xfrm>
            <a:off x="1737360" y="2359152"/>
            <a:ext cx="4023360" cy="1005840"/>
          </a:xfrm>
          <a:prstGeom prst="rect">
            <a:avLst/>
          </a:prstGeom>
          <a:noFill/>
          <a:ln/>
        </p:spPr>
        <p:txBody>
          <a:bodyPr wrap="square" lIns="0" tIns="0" rIns="0" bIns="0" rtlCol="0" anchor="t"/>
          <a:lstStyle/>
          <a:p>
            <a:pPr indent="0" marL="0">
              <a:buNone/>
            </a:pPr>
            <a:r>
              <a:rPr lang="en-US" sz="1350" dirty="0">
                <a:solidFill>
                  <a:srgbClr val="3C4043"/>
                </a:solidFill>
                <a:latin typeface="Calibri" pitchFamily="34" charset="0"/>
                <a:ea typeface="Calibri" pitchFamily="34" charset="-122"/>
                <a:cs typeface="Calibri" pitchFamily="34" charset="-120"/>
              </a:rPr>
              <a:t>A 12-store chain in Andhra Pradesh sells Electronics, Apparel, Grocery, Home &amp; Kitchen and Personal Care. The quarterly supplier review is next week.</a:t>
            </a:r>
            <a:endParaRPr lang="en-US" sz="1350" dirty="0"/>
          </a:p>
        </p:txBody>
      </p:sp>
      <p:sp>
        <p:nvSpPr>
          <p:cNvPr id="9" name="Shape 6"/>
          <p:cNvSpPr/>
          <p:nvPr/>
        </p:nvSpPr>
        <p:spPr>
          <a:xfrm>
            <a:off x="6172200" y="1645920"/>
            <a:ext cx="5440680" cy="1828800"/>
          </a:xfrm>
          <a:prstGeom prst="roundRect">
            <a:avLst>
              <a:gd name="adj" fmla="val 4000"/>
            </a:avLst>
          </a:prstGeom>
          <a:solidFill>
            <a:srgbClr val="F2F3F5"/>
          </a:solidFill>
          <a:ln w="12700">
            <a:solidFill>
              <a:srgbClr val="F2F3F5"/>
            </a:solidFill>
            <a:prstDash val="solid"/>
          </a:ln>
        </p:spPr>
      </p:sp>
      <p:sp>
        <p:nvSpPr>
          <p:cNvPr id="10" name="Shape 7"/>
          <p:cNvSpPr/>
          <p:nvPr/>
        </p:nvSpPr>
        <p:spPr>
          <a:xfrm>
            <a:off x="6446520" y="1965960"/>
            <a:ext cx="685800" cy="685800"/>
          </a:xfrm>
          <a:prstGeom prst="ellipse">
            <a:avLst/>
          </a:prstGeom>
          <a:solidFill>
            <a:srgbClr val="D03B3B"/>
          </a:solidFill>
          <a:ln w="12700">
            <a:solidFill>
              <a:srgbClr val="D03B3B"/>
            </a:solidFill>
            <a:prstDash val="solid"/>
          </a:ln>
        </p:spPr>
      </p:sp>
      <p:pic>
        <p:nvPicPr>
          <p:cNvPr id="11" name="Image 1" descr="preencoded.png">    </p:cNvPr>
          <p:cNvPicPr>
            <a:picLocks noChangeAspect="1"/>
          </p:cNvPicPr>
          <p:nvPr/>
        </p:nvPicPr>
        <p:blipFill>
          <a:blip r:embed="rId2"/>
          <a:stretch>
            <a:fillRect/>
          </a:stretch>
        </p:blipFill>
        <p:spPr>
          <a:xfrm>
            <a:off x="6617970" y="2137410"/>
            <a:ext cx="342900" cy="342900"/>
          </a:xfrm>
          <a:prstGeom prst="rect">
            <a:avLst/>
          </a:prstGeom>
        </p:spPr>
      </p:pic>
      <p:sp>
        <p:nvSpPr>
          <p:cNvPr id="12" name="Text 8"/>
          <p:cNvSpPr txBox="1"/>
          <p:nvPr/>
        </p:nvSpPr>
        <p:spPr>
          <a:xfrm>
            <a:off x="7360920" y="1920240"/>
            <a:ext cx="4023360" cy="411480"/>
          </a:xfrm>
          <a:prstGeom prst="rect">
            <a:avLst/>
          </a:prstGeom>
          <a:noFill/>
          <a:ln/>
        </p:spPr>
        <p:txBody>
          <a:bodyPr wrap="square" lIns="0" tIns="0" rIns="0" bIns="0" rtlCol="0" anchor="ctr"/>
          <a:lstStyle/>
          <a:p>
            <a:pPr indent="0" marL="0">
              <a:buNone/>
            </a:pPr>
            <a:r>
              <a:rPr lang="en-US" sz="2000" b="1" dirty="0">
                <a:solidFill>
                  <a:srgbClr val="1F2328"/>
                </a:solidFill>
                <a:latin typeface="Cambria" pitchFamily="34" charset="0"/>
                <a:ea typeface="Cambria" pitchFamily="34" charset="-122"/>
                <a:cs typeface="Cambria" pitchFamily="34" charset="-120"/>
              </a:rPr>
              <a:t>Complication</a:t>
            </a:r>
            <a:endParaRPr lang="en-US" sz="2000" dirty="0"/>
          </a:p>
        </p:txBody>
      </p:sp>
      <p:sp>
        <p:nvSpPr>
          <p:cNvPr id="13" name="Text 9"/>
          <p:cNvSpPr txBox="1"/>
          <p:nvPr/>
        </p:nvSpPr>
        <p:spPr>
          <a:xfrm>
            <a:off x="7360920" y="2359152"/>
            <a:ext cx="4023360" cy="1005840"/>
          </a:xfrm>
          <a:prstGeom prst="rect">
            <a:avLst/>
          </a:prstGeom>
          <a:noFill/>
          <a:ln/>
        </p:spPr>
        <p:txBody>
          <a:bodyPr wrap="square" lIns="0" tIns="0" rIns="0" bIns="0" rtlCol="0" anchor="t"/>
          <a:lstStyle/>
          <a:p>
            <a:pPr indent="0" marL="0">
              <a:buNone/>
            </a:pPr>
            <a:r>
              <a:rPr lang="en-US" sz="1350" dirty="0">
                <a:solidFill>
                  <a:srgbClr val="3C4043"/>
                </a:solidFill>
                <a:latin typeface="Calibri" pitchFamily="34" charset="0"/>
                <a:ea typeface="Calibri" pitchFamily="34" charset="-122"/>
                <a:cs typeface="Calibri" pitchFamily="34" charset="-120"/>
              </a:rPr>
              <a:t>Six months of raw transactions, but no clear view of which categories and products have earned their shelf space — so suppliers would set the agenda.</a:t>
            </a:r>
            <a:endParaRPr lang="en-US" sz="1350" dirty="0"/>
          </a:p>
        </p:txBody>
      </p:sp>
      <p:sp>
        <p:nvSpPr>
          <p:cNvPr id="14" name="Shape 10"/>
          <p:cNvSpPr/>
          <p:nvPr/>
        </p:nvSpPr>
        <p:spPr>
          <a:xfrm>
            <a:off x="548640" y="3657600"/>
            <a:ext cx="5440680" cy="1828800"/>
          </a:xfrm>
          <a:prstGeom prst="roundRect">
            <a:avLst>
              <a:gd name="adj" fmla="val 4000"/>
            </a:avLst>
          </a:prstGeom>
          <a:solidFill>
            <a:srgbClr val="F2F3F5"/>
          </a:solidFill>
          <a:ln w="12700">
            <a:solidFill>
              <a:srgbClr val="F2F3F5"/>
            </a:solidFill>
            <a:prstDash val="solid"/>
          </a:ln>
        </p:spPr>
      </p:sp>
      <p:sp>
        <p:nvSpPr>
          <p:cNvPr id="15" name="Shape 11"/>
          <p:cNvSpPr/>
          <p:nvPr/>
        </p:nvSpPr>
        <p:spPr>
          <a:xfrm>
            <a:off x="822960" y="3977640"/>
            <a:ext cx="685800" cy="685800"/>
          </a:xfrm>
          <a:prstGeom prst="ellipse">
            <a:avLst/>
          </a:prstGeom>
          <a:solidFill>
            <a:srgbClr val="2A78D6"/>
          </a:solidFill>
          <a:ln w="12700">
            <a:solidFill>
              <a:srgbClr val="2A78D6"/>
            </a:solidFill>
            <a:prstDash val="solid"/>
          </a:ln>
        </p:spPr>
      </p:sp>
      <p:pic>
        <p:nvPicPr>
          <p:cNvPr id="16" name="Image 2" descr="preencoded.png">    </p:cNvPr>
          <p:cNvPicPr>
            <a:picLocks noChangeAspect="1"/>
          </p:cNvPicPr>
          <p:nvPr/>
        </p:nvPicPr>
        <p:blipFill>
          <a:blip r:embed="rId3"/>
          <a:stretch>
            <a:fillRect/>
          </a:stretch>
        </p:blipFill>
        <p:spPr>
          <a:xfrm>
            <a:off x="994410" y="4149090"/>
            <a:ext cx="342900" cy="342900"/>
          </a:xfrm>
          <a:prstGeom prst="rect">
            <a:avLst/>
          </a:prstGeom>
        </p:spPr>
      </p:pic>
      <p:sp>
        <p:nvSpPr>
          <p:cNvPr id="17" name="Text 12"/>
          <p:cNvSpPr txBox="1"/>
          <p:nvPr/>
        </p:nvSpPr>
        <p:spPr>
          <a:xfrm>
            <a:off x="1737360" y="3931920"/>
            <a:ext cx="4023360" cy="411480"/>
          </a:xfrm>
          <a:prstGeom prst="rect">
            <a:avLst/>
          </a:prstGeom>
          <a:noFill/>
          <a:ln/>
        </p:spPr>
        <p:txBody>
          <a:bodyPr wrap="square" lIns="0" tIns="0" rIns="0" bIns="0" rtlCol="0" anchor="ctr"/>
          <a:lstStyle/>
          <a:p>
            <a:pPr indent="0" marL="0">
              <a:buNone/>
            </a:pPr>
            <a:r>
              <a:rPr lang="en-US" sz="2000" b="1" dirty="0">
                <a:solidFill>
                  <a:srgbClr val="1F2328"/>
                </a:solidFill>
                <a:latin typeface="Cambria" pitchFamily="34" charset="0"/>
                <a:ea typeface="Cambria" pitchFamily="34" charset="-122"/>
                <a:cs typeface="Cambria" pitchFamily="34" charset="-120"/>
              </a:rPr>
              <a:t>Question</a:t>
            </a:r>
            <a:endParaRPr lang="en-US" sz="2000" dirty="0"/>
          </a:p>
        </p:txBody>
      </p:sp>
      <p:sp>
        <p:nvSpPr>
          <p:cNvPr id="18" name="Text 13"/>
          <p:cNvSpPr txBox="1"/>
          <p:nvPr/>
        </p:nvSpPr>
        <p:spPr>
          <a:xfrm>
            <a:off x="1737360" y="4370832"/>
            <a:ext cx="4023360" cy="1005840"/>
          </a:xfrm>
          <a:prstGeom prst="rect">
            <a:avLst/>
          </a:prstGeom>
          <a:noFill/>
          <a:ln/>
        </p:spPr>
        <p:txBody>
          <a:bodyPr wrap="square" lIns="0" tIns="0" rIns="0" bIns="0" rtlCol="0" anchor="t"/>
          <a:lstStyle/>
          <a:p>
            <a:pPr indent="0" marL="0">
              <a:buNone/>
            </a:pPr>
            <a:r>
              <a:rPr lang="en-US" sz="1350" dirty="0">
                <a:solidFill>
                  <a:srgbClr val="3C4043"/>
                </a:solidFill>
                <a:latin typeface="Calibri" pitchFamily="34" charset="0"/>
                <a:ea typeface="Calibri" pitchFamily="34" charset="-122"/>
                <a:cs typeface="Calibri" pitchFamily="34" charset="-120"/>
              </a:rPr>
              <a:t>Which category do we back, which supplier do we challenge, and are discounts earning revenue or just giving away margin?</a:t>
            </a:r>
            <a:endParaRPr lang="en-US" sz="1350" dirty="0"/>
          </a:p>
        </p:txBody>
      </p:sp>
      <p:sp>
        <p:nvSpPr>
          <p:cNvPr id="19" name="Shape 14"/>
          <p:cNvSpPr/>
          <p:nvPr/>
        </p:nvSpPr>
        <p:spPr>
          <a:xfrm>
            <a:off x="6172200" y="3657600"/>
            <a:ext cx="5440680" cy="1828800"/>
          </a:xfrm>
          <a:prstGeom prst="roundRect">
            <a:avLst>
              <a:gd name="adj" fmla="val 4000"/>
            </a:avLst>
          </a:prstGeom>
          <a:solidFill>
            <a:srgbClr val="F2F3F5"/>
          </a:solidFill>
          <a:ln w="12700">
            <a:solidFill>
              <a:srgbClr val="F2F3F5"/>
            </a:solidFill>
            <a:prstDash val="solid"/>
          </a:ln>
        </p:spPr>
      </p:sp>
      <p:sp>
        <p:nvSpPr>
          <p:cNvPr id="20" name="Shape 15"/>
          <p:cNvSpPr/>
          <p:nvPr/>
        </p:nvSpPr>
        <p:spPr>
          <a:xfrm>
            <a:off x="6446520" y="3977640"/>
            <a:ext cx="685800" cy="685800"/>
          </a:xfrm>
          <a:prstGeom prst="ellipse">
            <a:avLst/>
          </a:prstGeom>
          <a:solidFill>
            <a:srgbClr val="2A78D6"/>
          </a:solidFill>
          <a:ln w="12700">
            <a:solidFill>
              <a:srgbClr val="2A78D6"/>
            </a:solidFill>
            <a:prstDash val="solid"/>
          </a:ln>
        </p:spPr>
      </p:sp>
      <p:pic>
        <p:nvPicPr>
          <p:cNvPr id="21" name="Image 3" descr="preencoded.png">    </p:cNvPr>
          <p:cNvPicPr>
            <a:picLocks noChangeAspect="1"/>
          </p:cNvPicPr>
          <p:nvPr/>
        </p:nvPicPr>
        <p:blipFill>
          <a:blip r:embed="rId4"/>
          <a:stretch>
            <a:fillRect/>
          </a:stretch>
        </p:blipFill>
        <p:spPr>
          <a:xfrm>
            <a:off x="6617970" y="4149090"/>
            <a:ext cx="342900" cy="342900"/>
          </a:xfrm>
          <a:prstGeom prst="rect">
            <a:avLst/>
          </a:prstGeom>
        </p:spPr>
      </p:pic>
      <p:sp>
        <p:nvSpPr>
          <p:cNvPr id="22" name="Text 16"/>
          <p:cNvSpPr txBox="1"/>
          <p:nvPr/>
        </p:nvSpPr>
        <p:spPr>
          <a:xfrm>
            <a:off x="7360920" y="3931920"/>
            <a:ext cx="4023360" cy="411480"/>
          </a:xfrm>
          <a:prstGeom prst="rect">
            <a:avLst/>
          </a:prstGeom>
          <a:noFill/>
          <a:ln/>
        </p:spPr>
        <p:txBody>
          <a:bodyPr wrap="square" lIns="0" tIns="0" rIns="0" bIns="0" rtlCol="0" anchor="ctr"/>
          <a:lstStyle/>
          <a:p>
            <a:pPr indent="0" marL="0">
              <a:buNone/>
            </a:pPr>
            <a:r>
              <a:rPr lang="en-US" sz="2000" b="1" dirty="0">
                <a:solidFill>
                  <a:srgbClr val="1F2328"/>
                </a:solidFill>
                <a:latin typeface="Cambria" pitchFamily="34" charset="0"/>
                <a:ea typeface="Cambria" pitchFamily="34" charset="-122"/>
                <a:cs typeface="Cambria" pitchFamily="34" charset="-120"/>
              </a:rPr>
              <a:t>Success</a:t>
            </a:r>
            <a:endParaRPr lang="en-US" sz="2000" dirty="0"/>
          </a:p>
        </p:txBody>
      </p:sp>
      <p:sp>
        <p:nvSpPr>
          <p:cNvPr id="23" name="Text 17"/>
          <p:cNvSpPr txBox="1"/>
          <p:nvPr/>
        </p:nvSpPr>
        <p:spPr>
          <a:xfrm>
            <a:off x="7360920" y="4370832"/>
            <a:ext cx="4023360" cy="1005840"/>
          </a:xfrm>
          <a:prstGeom prst="rect">
            <a:avLst/>
          </a:prstGeom>
          <a:noFill/>
          <a:ln/>
        </p:spPr>
        <p:txBody>
          <a:bodyPr wrap="square" lIns="0" tIns="0" rIns="0" bIns="0" rtlCol="0" anchor="t"/>
          <a:lstStyle/>
          <a:p>
            <a:pPr indent="0" marL="0">
              <a:buNone/>
            </a:pPr>
            <a:r>
              <a:rPr lang="en-US" sz="1350" dirty="0">
                <a:solidFill>
                  <a:srgbClr val="3C4043"/>
                </a:solidFill>
                <a:latin typeface="Calibri" pitchFamily="34" charset="0"/>
                <a:ea typeface="Calibri" pitchFamily="34" charset="-122"/>
                <a:cs typeface="Calibri" pitchFamily="34" charset="-120"/>
              </a:rPr>
              <a:t>The Category Manager walks in with one category to back, one supplier to challenge, a discount position and promotion timing — all with figures.</a:t>
            </a:r>
            <a:endParaRPr lang="en-US" sz="1350" dirty="0"/>
          </a:p>
        </p:txBody>
      </p:sp>
      <p:sp>
        <p:nvSpPr>
          <p:cNvPr id="24" name="Text 18"/>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350" b="1" dirty="0">
                <a:solidFill>
                  <a:srgbClr val="1F2328"/>
                </a:solidFill>
                <a:latin typeface="Calibri" pitchFamily="34" charset="0"/>
                <a:ea typeface="Calibri" pitchFamily="34" charset="-122"/>
                <a:cs typeface="Calibri" pitchFamily="34" charset="-120"/>
              </a:rPr>
              <a:t>Stakeholder: </a:t>
            </a:r>
            <a:pPr indent="0" marL="0">
              <a:buNone/>
            </a:pPr>
            <a:r>
              <a:rPr lang="en-US" sz="1350" dirty="0">
                <a:solidFill>
                  <a:srgbClr val="3C4043"/>
                </a:solidFill>
                <a:latin typeface="Calibri" pitchFamily="34" charset="0"/>
                <a:ea typeface="Calibri" pitchFamily="34" charset="-122"/>
                <a:cs typeface="Calibri" pitchFamily="34" charset="-120"/>
              </a:rPr>
              <a:t>the Category Manager    </a:t>
            </a:r>
            <a:pPr indent="0" marL="0">
              <a:buNone/>
            </a:pPr>
            <a:r>
              <a:rPr lang="en-US" sz="1350" b="1" dirty="0">
                <a:solidFill>
                  <a:srgbClr val="1F2328"/>
                </a:solidFill>
                <a:latin typeface="Calibri" pitchFamily="34" charset="0"/>
                <a:ea typeface="Calibri" pitchFamily="34" charset="-122"/>
                <a:cs typeface="Calibri" pitchFamily="34" charset="-120"/>
              </a:rPr>
              <a:t>Single source of truth: </a:t>
            </a:r>
            <a:pPr indent="0" marL="0">
              <a:buNone/>
            </a:pPr>
            <a:r>
              <a:rPr lang="en-US" sz="1350" dirty="0">
                <a:solidFill>
                  <a:srgbClr val="3C4043"/>
                </a:solidFill>
                <a:latin typeface="Calibri" pitchFamily="34" charset="0"/>
                <a:ea typeface="Calibri" pitchFamily="34" charset="-122"/>
                <a:cs typeface="Calibri" pitchFamily="34" charset="-120"/>
              </a:rPr>
              <a:t>MUC01_Retail_Sales_Dataset.csv (1 Jan – 30 Jun 2026)</a:t>
            </a:r>
            <a:endParaRPr lang="en-US" sz="1350" dirty="0"/>
          </a:p>
        </p:txBody>
      </p:sp>
      <p:sp>
        <p:nvSpPr>
          <p:cNvPr id="25" name="Text 19"/>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Saalif Udyawar   ·   MUC01 · Category Intelligence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How we worked: six steps from raw data to a decision</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Every step has code, a chart, and a plain-English business meaning</a:t>
            </a:r>
            <a:endParaRPr lang="en-US" sz="1500" dirty="0"/>
          </a:p>
        </p:txBody>
      </p:sp>
      <p:sp>
        <p:nvSpPr>
          <p:cNvPr id="4" name="Shape 2"/>
          <p:cNvSpPr/>
          <p:nvPr/>
        </p:nvSpPr>
        <p:spPr>
          <a:xfrm>
            <a:off x="1051560" y="1783080"/>
            <a:ext cx="777240" cy="777240"/>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1245870" y="1977390"/>
            <a:ext cx="388620" cy="388620"/>
          </a:xfrm>
          <a:prstGeom prst="rect">
            <a:avLst/>
          </a:prstGeom>
        </p:spPr>
      </p:pic>
      <p:sp>
        <p:nvSpPr>
          <p:cNvPr id="6" name="Shape 3"/>
          <p:cNvSpPr/>
          <p:nvPr/>
        </p:nvSpPr>
        <p:spPr>
          <a:xfrm>
            <a:off x="1920240" y="2171700"/>
            <a:ext cx="868680" cy="0"/>
          </a:xfrm>
          <a:prstGeom prst="line">
            <a:avLst/>
          </a:prstGeom>
          <a:noFill/>
          <a:ln w="19050">
            <a:solidFill>
              <a:srgbClr val="C3C2B7"/>
            </a:solidFill>
            <a:prstDash val="solid"/>
            <a:tailEnd type="triangle"/>
          </a:ln>
        </p:spPr>
      </p:sp>
      <p:sp>
        <p:nvSpPr>
          <p:cNvPr id="7" name="Text 4"/>
          <p:cNvSpPr txBox="1"/>
          <p:nvPr/>
        </p:nvSpPr>
        <p:spPr>
          <a:xfrm>
            <a:off x="548640" y="2743200"/>
            <a:ext cx="1783080" cy="320040"/>
          </a:xfrm>
          <a:prstGeom prst="rect">
            <a:avLst/>
          </a:prstGeom>
          <a:noFill/>
          <a:ln/>
        </p:spPr>
        <p:txBody>
          <a:bodyPr wrap="square" lIns="0" tIns="0" rIns="0" bIns="0" rtlCol="0" anchor="ctr"/>
          <a:lstStyle/>
          <a:p>
            <a:pPr algn="ctr" indent="0" marL="0">
              <a:buNone/>
            </a:pPr>
            <a:r>
              <a:rPr lang="en-US" sz="1200" b="1" dirty="0">
                <a:solidFill>
                  <a:srgbClr val="5F6368"/>
                </a:solidFill>
                <a:latin typeface="Calibri" pitchFamily="34" charset="0"/>
                <a:ea typeface="Calibri" pitchFamily="34" charset="-122"/>
                <a:cs typeface="Calibri" pitchFamily="34" charset="-120"/>
              </a:rPr>
              <a:t>6.1</a:t>
            </a:r>
            <a:endParaRPr lang="en-US" sz="1200" dirty="0"/>
          </a:p>
        </p:txBody>
      </p:sp>
      <p:sp>
        <p:nvSpPr>
          <p:cNvPr id="8" name="Text 5"/>
          <p:cNvSpPr txBox="1"/>
          <p:nvPr/>
        </p:nvSpPr>
        <p:spPr>
          <a:xfrm>
            <a:off x="548640" y="3035808"/>
            <a:ext cx="1783080" cy="411480"/>
          </a:xfrm>
          <a:prstGeom prst="rect">
            <a:avLst/>
          </a:prstGeom>
          <a:noFill/>
          <a:ln/>
        </p:spPr>
        <p:txBody>
          <a:bodyPr wrap="square" lIns="0" tIns="0" rIns="0" bIns="0" rtlCol="0" anchor="ctr"/>
          <a:lstStyle/>
          <a:p>
            <a:pPr algn="ctr" indent="0" marL="0">
              <a:buNone/>
            </a:pPr>
            <a:r>
              <a:rPr lang="en-US" sz="1600" b="1" dirty="0">
                <a:solidFill>
                  <a:srgbClr val="1F2328"/>
                </a:solidFill>
                <a:latin typeface="Cambria" pitchFamily="34" charset="0"/>
                <a:ea typeface="Cambria" pitchFamily="34" charset="-122"/>
                <a:cs typeface="Cambria" pitchFamily="34" charset="-120"/>
              </a:rPr>
              <a:t>Load &amp; check</a:t>
            </a:r>
            <a:endParaRPr lang="en-US" sz="1600" dirty="0"/>
          </a:p>
        </p:txBody>
      </p:sp>
      <p:sp>
        <p:nvSpPr>
          <p:cNvPr id="9" name="Text 6"/>
          <p:cNvSpPr txBox="1"/>
          <p:nvPr/>
        </p:nvSpPr>
        <p:spPr>
          <a:xfrm>
            <a:off x="548640" y="4160520"/>
            <a:ext cx="1783080" cy="274320"/>
          </a:xfrm>
          <a:prstGeom prst="rect">
            <a:avLst/>
          </a:prstGeom>
          <a:noFill/>
          <a:ln/>
        </p:spPr>
        <p:txBody>
          <a:bodyPr wrap="square" lIns="0" tIns="0" rIns="0" bIns="0" rtlCol="0" anchor="ctr"/>
          <a:lstStyle/>
          <a:p>
            <a:pPr algn="ctr" indent="0" marL="0">
              <a:buNone/>
            </a:pPr>
            <a:r>
              <a:rPr lang="en-US" sz="1100" b="1" i="1" dirty="0">
                <a:solidFill>
                  <a:srgbClr val="2A78D6"/>
                </a:solidFill>
                <a:latin typeface="Calibri" pitchFamily="34" charset="0"/>
                <a:ea typeface="Calibri" pitchFamily="34" charset="-122"/>
                <a:cs typeface="Calibri" pitchFamily="34" charset="-120"/>
              </a:rPr>
              <a:t>Saalif</a:t>
            </a:r>
            <a:endParaRPr lang="en-US" sz="1100" dirty="0"/>
          </a:p>
        </p:txBody>
      </p:sp>
      <p:sp>
        <p:nvSpPr>
          <p:cNvPr id="10" name="Text 7"/>
          <p:cNvSpPr txBox="1"/>
          <p:nvPr/>
        </p:nvSpPr>
        <p:spPr>
          <a:xfrm>
            <a:off x="594360" y="3474720"/>
            <a:ext cx="1691640" cy="685800"/>
          </a:xfrm>
          <a:prstGeom prst="rect">
            <a:avLst/>
          </a:prstGeom>
          <a:noFill/>
          <a:ln/>
        </p:spPr>
        <p:txBody>
          <a:bodyPr wrap="square" lIns="0" tIns="0" rIns="0" bIns="0" rtlCol="0" anchor="t"/>
          <a:lstStyle/>
          <a:p>
            <a:pPr algn="ctr" indent="0" marL="0">
              <a:buNone/>
            </a:pPr>
            <a:r>
              <a:rPr lang="en-US" sz="1200" dirty="0">
                <a:solidFill>
                  <a:srgbClr val="3C4043"/>
                </a:solidFill>
                <a:latin typeface="Calibri" pitchFamily="34" charset="0"/>
                <a:ea typeface="Calibri" pitchFamily="34" charset="-122"/>
                <a:cs typeface="Calibri" pitchFamily="34" charset="-120"/>
              </a:rPr>
              <a:t>No nulls, no duplicates; revenue formula verified</a:t>
            </a:r>
            <a:endParaRPr lang="en-US" sz="1200" dirty="0"/>
          </a:p>
        </p:txBody>
      </p:sp>
      <p:sp>
        <p:nvSpPr>
          <p:cNvPr id="11" name="Shape 8"/>
          <p:cNvSpPr/>
          <p:nvPr/>
        </p:nvSpPr>
        <p:spPr>
          <a:xfrm>
            <a:off x="2926080" y="1783080"/>
            <a:ext cx="777240" cy="777240"/>
          </a:xfrm>
          <a:prstGeom prst="ellipse">
            <a:avLst/>
          </a:prstGeom>
          <a:solidFill>
            <a:srgbClr val="2A78D6"/>
          </a:solidFill>
          <a:ln w="12700">
            <a:solidFill>
              <a:srgbClr val="2A78D6"/>
            </a:solidFill>
            <a:prstDash val="solid"/>
          </a:ln>
        </p:spPr>
      </p:sp>
      <p:pic>
        <p:nvPicPr>
          <p:cNvPr id="12" name="Image 1" descr="preencoded.png">    </p:cNvPr>
          <p:cNvPicPr>
            <a:picLocks noChangeAspect="1"/>
          </p:cNvPicPr>
          <p:nvPr/>
        </p:nvPicPr>
        <p:blipFill>
          <a:blip r:embed="rId2"/>
          <a:stretch>
            <a:fillRect/>
          </a:stretch>
        </p:blipFill>
        <p:spPr>
          <a:xfrm>
            <a:off x="3120390" y="1977390"/>
            <a:ext cx="388620" cy="388620"/>
          </a:xfrm>
          <a:prstGeom prst="rect">
            <a:avLst/>
          </a:prstGeom>
        </p:spPr>
      </p:pic>
      <p:sp>
        <p:nvSpPr>
          <p:cNvPr id="13" name="Shape 9"/>
          <p:cNvSpPr/>
          <p:nvPr/>
        </p:nvSpPr>
        <p:spPr>
          <a:xfrm>
            <a:off x="3794760" y="2171700"/>
            <a:ext cx="868680" cy="0"/>
          </a:xfrm>
          <a:prstGeom prst="line">
            <a:avLst/>
          </a:prstGeom>
          <a:noFill/>
          <a:ln w="19050">
            <a:solidFill>
              <a:srgbClr val="C3C2B7"/>
            </a:solidFill>
            <a:prstDash val="solid"/>
            <a:tailEnd type="triangle"/>
          </a:ln>
        </p:spPr>
      </p:sp>
      <p:sp>
        <p:nvSpPr>
          <p:cNvPr id="14" name="Text 10"/>
          <p:cNvSpPr txBox="1"/>
          <p:nvPr/>
        </p:nvSpPr>
        <p:spPr>
          <a:xfrm>
            <a:off x="2423160" y="2743200"/>
            <a:ext cx="1783080" cy="320040"/>
          </a:xfrm>
          <a:prstGeom prst="rect">
            <a:avLst/>
          </a:prstGeom>
          <a:noFill/>
          <a:ln/>
        </p:spPr>
        <p:txBody>
          <a:bodyPr wrap="square" lIns="0" tIns="0" rIns="0" bIns="0" rtlCol="0" anchor="ctr"/>
          <a:lstStyle/>
          <a:p>
            <a:pPr algn="ctr" indent="0" marL="0">
              <a:buNone/>
            </a:pPr>
            <a:r>
              <a:rPr lang="en-US" sz="1200" b="1" dirty="0">
                <a:solidFill>
                  <a:srgbClr val="5F6368"/>
                </a:solidFill>
                <a:latin typeface="Calibri" pitchFamily="34" charset="0"/>
                <a:ea typeface="Calibri" pitchFamily="34" charset="-122"/>
                <a:cs typeface="Calibri" pitchFamily="34" charset="-120"/>
              </a:rPr>
              <a:t>6.2</a:t>
            </a:r>
            <a:endParaRPr lang="en-US" sz="1200" dirty="0"/>
          </a:p>
        </p:txBody>
      </p:sp>
      <p:sp>
        <p:nvSpPr>
          <p:cNvPr id="15" name="Text 11"/>
          <p:cNvSpPr txBox="1"/>
          <p:nvPr/>
        </p:nvSpPr>
        <p:spPr>
          <a:xfrm>
            <a:off x="2423160" y="3035808"/>
            <a:ext cx="1783080" cy="411480"/>
          </a:xfrm>
          <a:prstGeom prst="rect">
            <a:avLst/>
          </a:prstGeom>
          <a:noFill/>
          <a:ln/>
        </p:spPr>
        <p:txBody>
          <a:bodyPr wrap="square" lIns="0" tIns="0" rIns="0" bIns="0" rtlCol="0" anchor="ctr"/>
          <a:lstStyle/>
          <a:p>
            <a:pPr algn="ctr" indent="0" marL="0">
              <a:buNone/>
            </a:pPr>
            <a:r>
              <a:rPr lang="en-US" sz="1600" b="1" dirty="0">
                <a:solidFill>
                  <a:srgbClr val="1F2328"/>
                </a:solidFill>
                <a:latin typeface="Cambria" pitchFamily="34" charset="0"/>
                <a:ea typeface="Cambria" pitchFamily="34" charset="-122"/>
                <a:cs typeface="Cambria" pitchFamily="34" charset="-120"/>
              </a:rPr>
              <a:t>Category trend</a:t>
            </a:r>
            <a:endParaRPr lang="en-US" sz="1600" dirty="0"/>
          </a:p>
        </p:txBody>
      </p:sp>
      <p:sp>
        <p:nvSpPr>
          <p:cNvPr id="16" name="Text 12"/>
          <p:cNvSpPr txBox="1"/>
          <p:nvPr/>
        </p:nvSpPr>
        <p:spPr>
          <a:xfrm>
            <a:off x="2423160" y="4160520"/>
            <a:ext cx="1783080" cy="274320"/>
          </a:xfrm>
          <a:prstGeom prst="rect">
            <a:avLst/>
          </a:prstGeom>
          <a:noFill/>
          <a:ln/>
        </p:spPr>
        <p:txBody>
          <a:bodyPr wrap="square" lIns="0" tIns="0" rIns="0" bIns="0" rtlCol="0" anchor="ctr"/>
          <a:lstStyle/>
          <a:p>
            <a:pPr algn="ctr" indent="0" marL="0">
              <a:buNone/>
            </a:pPr>
            <a:r>
              <a:rPr lang="en-US" sz="1100" b="1" i="1" dirty="0">
                <a:solidFill>
                  <a:srgbClr val="2A78D6"/>
                </a:solidFill>
                <a:latin typeface="Calibri" pitchFamily="34" charset="0"/>
                <a:ea typeface="Calibri" pitchFamily="34" charset="-122"/>
                <a:cs typeface="Calibri" pitchFamily="34" charset="-120"/>
              </a:rPr>
              <a:t>Saalif</a:t>
            </a:r>
            <a:endParaRPr lang="en-US" sz="1100" dirty="0"/>
          </a:p>
        </p:txBody>
      </p:sp>
      <p:sp>
        <p:nvSpPr>
          <p:cNvPr id="17" name="Text 13"/>
          <p:cNvSpPr txBox="1"/>
          <p:nvPr/>
        </p:nvSpPr>
        <p:spPr>
          <a:xfrm>
            <a:off x="2468880" y="3474720"/>
            <a:ext cx="1691640" cy="685800"/>
          </a:xfrm>
          <a:prstGeom prst="rect">
            <a:avLst/>
          </a:prstGeom>
          <a:noFill/>
          <a:ln/>
        </p:spPr>
        <p:txBody>
          <a:bodyPr wrap="square" lIns="0" tIns="0" rIns="0" bIns="0" rtlCol="0" anchor="t"/>
          <a:lstStyle/>
          <a:p>
            <a:pPr algn="ctr" indent="0" marL="0">
              <a:buNone/>
            </a:pPr>
            <a:r>
              <a:rPr lang="en-US" sz="1200" dirty="0">
                <a:solidFill>
                  <a:srgbClr val="3C4043"/>
                </a:solidFill>
                <a:latin typeface="Calibri" pitchFamily="34" charset="0"/>
                <a:ea typeface="Calibri" pitchFamily="34" charset="-122"/>
                <a:cs typeface="Calibri" pitchFamily="34" charset="-120"/>
              </a:rPr>
              <a:t>Monthly revenue per category, Jan–Jun</a:t>
            </a:r>
            <a:endParaRPr lang="en-US" sz="1200" dirty="0"/>
          </a:p>
        </p:txBody>
      </p:sp>
      <p:sp>
        <p:nvSpPr>
          <p:cNvPr id="18" name="Shape 14"/>
          <p:cNvSpPr/>
          <p:nvPr/>
        </p:nvSpPr>
        <p:spPr>
          <a:xfrm>
            <a:off x="4800600" y="1783080"/>
            <a:ext cx="777240" cy="777240"/>
          </a:xfrm>
          <a:prstGeom prst="ellipse">
            <a:avLst/>
          </a:prstGeom>
          <a:solidFill>
            <a:srgbClr val="2A78D6"/>
          </a:solidFill>
          <a:ln w="12700">
            <a:solidFill>
              <a:srgbClr val="2A78D6"/>
            </a:solidFill>
            <a:prstDash val="solid"/>
          </a:ln>
        </p:spPr>
      </p:sp>
      <p:pic>
        <p:nvPicPr>
          <p:cNvPr id="19" name="Image 2" descr="preencoded.png">    </p:cNvPr>
          <p:cNvPicPr>
            <a:picLocks noChangeAspect="1"/>
          </p:cNvPicPr>
          <p:nvPr/>
        </p:nvPicPr>
        <p:blipFill>
          <a:blip r:embed="rId3"/>
          <a:stretch>
            <a:fillRect/>
          </a:stretch>
        </p:blipFill>
        <p:spPr>
          <a:xfrm>
            <a:off x="4994910" y="1977390"/>
            <a:ext cx="388620" cy="388620"/>
          </a:xfrm>
          <a:prstGeom prst="rect">
            <a:avLst/>
          </a:prstGeom>
        </p:spPr>
      </p:pic>
      <p:sp>
        <p:nvSpPr>
          <p:cNvPr id="20" name="Shape 15"/>
          <p:cNvSpPr/>
          <p:nvPr/>
        </p:nvSpPr>
        <p:spPr>
          <a:xfrm>
            <a:off x="5669280" y="2171700"/>
            <a:ext cx="868680" cy="0"/>
          </a:xfrm>
          <a:prstGeom prst="line">
            <a:avLst/>
          </a:prstGeom>
          <a:noFill/>
          <a:ln w="19050">
            <a:solidFill>
              <a:srgbClr val="C3C2B7"/>
            </a:solidFill>
            <a:prstDash val="solid"/>
            <a:tailEnd type="triangle"/>
          </a:ln>
        </p:spPr>
      </p:sp>
      <p:sp>
        <p:nvSpPr>
          <p:cNvPr id="21" name="Text 16"/>
          <p:cNvSpPr txBox="1"/>
          <p:nvPr/>
        </p:nvSpPr>
        <p:spPr>
          <a:xfrm>
            <a:off x="4297680" y="2743200"/>
            <a:ext cx="1783080" cy="320040"/>
          </a:xfrm>
          <a:prstGeom prst="rect">
            <a:avLst/>
          </a:prstGeom>
          <a:noFill/>
          <a:ln/>
        </p:spPr>
        <p:txBody>
          <a:bodyPr wrap="square" lIns="0" tIns="0" rIns="0" bIns="0" rtlCol="0" anchor="ctr"/>
          <a:lstStyle/>
          <a:p>
            <a:pPr algn="ctr" indent="0" marL="0">
              <a:buNone/>
            </a:pPr>
            <a:r>
              <a:rPr lang="en-US" sz="1200" b="1" dirty="0">
                <a:solidFill>
                  <a:srgbClr val="5F6368"/>
                </a:solidFill>
                <a:latin typeface="Calibri" pitchFamily="34" charset="0"/>
                <a:ea typeface="Calibri" pitchFamily="34" charset="-122"/>
                <a:cs typeface="Calibri" pitchFamily="34" charset="-120"/>
              </a:rPr>
              <a:t>6.3</a:t>
            </a:r>
            <a:endParaRPr lang="en-US" sz="1200" dirty="0"/>
          </a:p>
        </p:txBody>
      </p:sp>
      <p:sp>
        <p:nvSpPr>
          <p:cNvPr id="22" name="Text 17"/>
          <p:cNvSpPr txBox="1"/>
          <p:nvPr/>
        </p:nvSpPr>
        <p:spPr>
          <a:xfrm>
            <a:off x="4297680" y="3035808"/>
            <a:ext cx="1783080" cy="411480"/>
          </a:xfrm>
          <a:prstGeom prst="rect">
            <a:avLst/>
          </a:prstGeom>
          <a:noFill/>
          <a:ln/>
        </p:spPr>
        <p:txBody>
          <a:bodyPr wrap="square" lIns="0" tIns="0" rIns="0" bIns="0" rtlCol="0" anchor="ctr"/>
          <a:lstStyle/>
          <a:p>
            <a:pPr algn="ctr" indent="0" marL="0">
              <a:buNone/>
            </a:pPr>
            <a:r>
              <a:rPr lang="en-US" sz="1600" b="1" dirty="0">
                <a:solidFill>
                  <a:srgbClr val="1F2328"/>
                </a:solidFill>
                <a:latin typeface="Cambria" pitchFamily="34" charset="0"/>
                <a:ea typeface="Cambria" pitchFamily="34" charset="-122"/>
                <a:cs typeface="Cambria" pitchFamily="34" charset="-120"/>
              </a:rPr>
              <a:t>Product ranking</a:t>
            </a:r>
            <a:endParaRPr lang="en-US" sz="1600" dirty="0"/>
          </a:p>
        </p:txBody>
      </p:sp>
      <p:sp>
        <p:nvSpPr>
          <p:cNvPr id="23" name="Text 18"/>
          <p:cNvSpPr txBox="1"/>
          <p:nvPr/>
        </p:nvSpPr>
        <p:spPr>
          <a:xfrm>
            <a:off x="4297680" y="4160520"/>
            <a:ext cx="1783080" cy="274320"/>
          </a:xfrm>
          <a:prstGeom prst="rect">
            <a:avLst/>
          </a:prstGeom>
          <a:noFill/>
          <a:ln/>
        </p:spPr>
        <p:txBody>
          <a:bodyPr wrap="square" lIns="0" tIns="0" rIns="0" bIns="0" rtlCol="0" anchor="ctr"/>
          <a:lstStyle/>
          <a:p>
            <a:pPr algn="ctr" indent="0" marL="0">
              <a:buNone/>
            </a:pPr>
            <a:r>
              <a:rPr lang="en-US" sz="1100" b="1" i="1" dirty="0">
                <a:solidFill>
                  <a:srgbClr val="2A78D6"/>
                </a:solidFill>
                <a:latin typeface="Calibri" pitchFamily="34" charset="0"/>
                <a:ea typeface="Calibri" pitchFamily="34" charset="-122"/>
                <a:cs typeface="Calibri" pitchFamily="34" charset="-120"/>
              </a:rPr>
              <a:t>Saalif</a:t>
            </a:r>
            <a:endParaRPr lang="en-US" sz="1100" dirty="0"/>
          </a:p>
        </p:txBody>
      </p:sp>
      <p:sp>
        <p:nvSpPr>
          <p:cNvPr id="24" name="Text 19"/>
          <p:cNvSpPr txBox="1"/>
          <p:nvPr/>
        </p:nvSpPr>
        <p:spPr>
          <a:xfrm>
            <a:off x="4343400" y="3474720"/>
            <a:ext cx="1691640" cy="685800"/>
          </a:xfrm>
          <a:prstGeom prst="rect">
            <a:avLst/>
          </a:prstGeom>
          <a:noFill/>
          <a:ln/>
        </p:spPr>
        <p:txBody>
          <a:bodyPr wrap="square" lIns="0" tIns="0" rIns="0" bIns="0" rtlCol="0" anchor="t"/>
          <a:lstStyle/>
          <a:p>
            <a:pPr algn="ctr" indent="0" marL="0">
              <a:buNone/>
            </a:pPr>
            <a:r>
              <a:rPr lang="en-US" sz="1200" dirty="0">
                <a:solidFill>
                  <a:srgbClr val="3C4043"/>
                </a:solidFill>
                <a:latin typeface="Calibri" pitchFamily="34" charset="0"/>
                <a:ea typeface="Calibri" pitchFamily="34" charset="-122"/>
                <a:cs typeface="Calibri" pitchFamily="34" charset="-120"/>
              </a:rPr>
              <a:t>Rank within category + direction of travel</a:t>
            </a:r>
            <a:endParaRPr lang="en-US" sz="1200" dirty="0"/>
          </a:p>
        </p:txBody>
      </p:sp>
      <p:sp>
        <p:nvSpPr>
          <p:cNvPr id="25" name="Shape 20"/>
          <p:cNvSpPr/>
          <p:nvPr/>
        </p:nvSpPr>
        <p:spPr>
          <a:xfrm>
            <a:off x="6675120" y="1783080"/>
            <a:ext cx="777240" cy="777240"/>
          </a:xfrm>
          <a:prstGeom prst="ellipse">
            <a:avLst/>
          </a:prstGeom>
          <a:solidFill>
            <a:srgbClr val="2A78D6"/>
          </a:solidFill>
          <a:ln w="12700">
            <a:solidFill>
              <a:srgbClr val="2A78D6"/>
            </a:solidFill>
            <a:prstDash val="solid"/>
          </a:ln>
        </p:spPr>
      </p:sp>
      <p:pic>
        <p:nvPicPr>
          <p:cNvPr id="26" name="Image 3" descr="preencoded.png">    </p:cNvPr>
          <p:cNvPicPr>
            <a:picLocks noChangeAspect="1"/>
          </p:cNvPicPr>
          <p:nvPr/>
        </p:nvPicPr>
        <p:blipFill>
          <a:blip r:embed="rId4"/>
          <a:stretch>
            <a:fillRect/>
          </a:stretch>
        </p:blipFill>
        <p:spPr>
          <a:xfrm>
            <a:off x="6869430" y="1977390"/>
            <a:ext cx="388620" cy="388620"/>
          </a:xfrm>
          <a:prstGeom prst="rect">
            <a:avLst/>
          </a:prstGeom>
        </p:spPr>
      </p:pic>
      <p:sp>
        <p:nvSpPr>
          <p:cNvPr id="27" name="Shape 21"/>
          <p:cNvSpPr/>
          <p:nvPr/>
        </p:nvSpPr>
        <p:spPr>
          <a:xfrm>
            <a:off x="7543800" y="2171700"/>
            <a:ext cx="868680" cy="0"/>
          </a:xfrm>
          <a:prstGeom prst="line">
            <a:avLst/>
          </a:prstGeom>
          <a:noFill/>
          <a:ln w="19050">
            <a:solidFill>
              <a:srgbClr val="C3C2B7"/>
            </a:solidFill>
            <a:prstDash val="solid"/>
            <a:tailEnd type="triangle"/>
          </a:ln>
        </p:spPr>
      </p:sp>
      <p:sp>
        <p:nvSpPr>
          <p:cNvPr id="28" name="Text 22"/>
          <p:cNvSpPr txBox="1"/>
          <p:nvPr/>
        </p:nvSpPr>
        <p:spPr>
          <a:xfrm>
            <a:off x="6172200" y="2743200"/>
            <a:ext cx="1783080" cy="320040"/>
          </a:xfrm>
          <a:prstGeom prst="rect">
            <a:avLst/>
          </a:prstGeom>
          <a:noFill/>
          <a:ln/>
        </p:spPr>
        <p:txBody>
          <a:bodyPr wrap="square" lIns="0" tIns="0" rIns="0" bIns="0" rtlCol="0" anchor="ctr"/>
          <a:lstStyle/>
          <a:p>
            <a:pPr algn="ctr" indent="0" marL="0">
              <a:buNone/>
            </a:pPr>
            <a:r>
              <a:rPr lang="en-US" sz="1200" b="1" dirty="0">
                <a:solidFill>
                  <a:srgbClr val="5F6368"/>
                </a:solidFill>
                <a:latin typeface="Calibri" pitchFamily="34" charset="0"/>
                <a:ea typeface="Calibri" pitchFamily="34" charset="-122"/>
                <a:cs typeface="Calibri" pitchFamily="34" charset="-120"/>
              </a:rPr>
              <a:t>6.4</a:t>
            </a:r>
            <a:endParaRPr lang="en-US" sz="1200" dirty="0"/>
          </a:p>
        </p:txBody>
      </p:sp>
      <p:sp>
        <p:nvSpPr>
          <p:cNvPr id="29" name="Text 23"/>
          <p:cNvSpPr txBox="1"/>
          <p:nvPr/>
        </p:nvSpPr>
        <p:spPr>
          <a:xfrm>
            <a:off x="6172200" y="3035808"/>
            <a:ext cx="1783080" cy="411480"/>
          </a:xfrm>
          <a:prstGeom prst="rect">
            <a:avLst/>
          </a:prstGeom>
          <a:noFill/>
          <a:ln/>
        </p:spPr>
        <p:txBody>
          <a:bodyPr wrap="square" lIns="0" tIns="0" rIns="0" bIns="0" rtlCol="0" anchor="ctr"/>
          <a:lstStyle/>
          <a:p>
            <a:pPr algn="ctr" indent="0" marL="0">
              <a:buNone/>
            </a:pPr>
            <a:r>
              <a:rPr lang="en-US" sz="1600" b="1" dirty="0">
                <a:solidFill>
                  <a:srgbClr val="1F2328"/>
                </a:solidFill>
                <a:latin typeface="Cambria" pitchFamily="34" charset="0"/>
                <a:ea typeface="Cambria" pitchFamily="34" charset="-122"/>
                <a:cs typeface="Cambria" pitchFamily="34" charset="-120"/>
              </a:rPr>
              <a:t>Discount test</a:t>
            </a:r>
            <a:endParaRPr lang="en-US" sz="1600" dirty="0"/>
          </a:p>
        </p:txBody>
      </p:sp>
      <p:sp>
        <p:nvSpPr>
          <p:cNvPr id="30" name="Text 24"/>
          <p:cNvSpPr txBox="1"/>
          <p:nvPr/>
        </p:nvSpPr>
        <p:spPr>
          <a:xfrm>
            <a:off x="6172200" y="4160520"/>
            <a:ext cx="1783080" cy="274320"/>
          </a:xfrm>
          <a:prstGeom prst="rect">
            <a:avLst/>
          </a:prstGeom>
          <a:noFill/>
          <a:ln/>
        </p:spPr>
        <p:txBody>
          <a:bodyPr wrap="square" lIns="0" tIns="0" rIns="0" bIns="0" rtlCol="0" anchor="ctr"/>
          <a:lstStyle/>
          <a:p>
            <a:pPr algn="ctr" indent="0" marL="0">
              <a:buNone/>
            </a:pPr>
            <a:r>
              <a:rPr lang="en-US" sz="1100" b="1" i="1" dirty="0">
                <a:solidFill>
                  <a:srgbClr val="B3541E"/>
                </a:solidFill>
                <a:latin typeface="Calibri" pitchFamily="34" charset="0"/>
                <a:ea typeface="Calibri" pitchFamily="34" charset="-122"/>
                <a:cs typeface="Calibri" pitchFamily="34" charset="-120"/>
              </a:rPr>
              <a:t>Mutee</a:t>
            </a:r>
            <a:endParaRPr lang="en-US" sz="1100" dirty="0"/>
          </a:p>
        </p:txBody>
      </p:sp>
      <p:sp>
        <p:nvSpPr>
          <p:cNvPr id="31" name="Text 25"/>
          <p:cNvSpPr txBox="1"/>
          <p:nvPr/>
        </p:nvSpPr>
        <p:spPr>
          <a:xfrm>
            <a:off x="6217920" y="3474720"/>
            <a:ext cx="1691640" cy="685800"/>
          </a:xfrm>
          <a:prstGeom prst="rect">
            <a:avLst/>
          </a:prstGeom>
          <a:noFill/>
          <a:ln/>
        </p:spPr>
        <p:txBody>
          <a:bodyPr wrap="square" lIns="0" tIns="0" rIns="0" bIns="0" rtlCol="0" anchor="t"/>
          <a:lstStyle/>
          <a:p>
            <a:pPr algn="ctr" indent="0" marL="0">
              <a:buNone/>
            </a:pPr>
            <a:r>
              <a:rPr lang="en-US" sz="1200" dirty="0">
                <a:solidFill>
                  <a:srgbClr val="3C4043"/>
                </a:solidFill>
                <a:latin typeface="Calibri" pitchFamily="34" charset="0"/>
                <a:ea typeface="Calibri" pitchFamily="34" charset="-122"/>
                <a:cs typeface="Calibri" pitchFamily="34" charset="-120"/>
              </a:rPr>
              <a:t>Do discounts sell more units?</a:t>
            </a:r>
            <a:endParaRPr lang="en-US" sz="1200" dirty="0"/>
          </a:p>
        </p:txBody>
      </p:sp>
      <p:sp>
        <p:nvSpPr>
          <p:cNvPr id="32" name="Shape 26"/>
          <p:cNvSpPr/>
          <p:nvPr/>
        </p:nvSpPr>
        <p:spPr>
          <a:xfrm>
            <a:off x="8549640" y="1783080"/>
            <a:ext cx="777240" cy="777240"/>
          </a:xfrm>
          <a:prstGeom prst="ellipse">
            <a:avLst/>
          </a:prstGeom>
          <a:solidFill>
            <a:srgbClr val="2A78D6"/>
          </a:solidFill>
          <a:ln w="12700">
            <a:solidFill>
              <a:srgbClr val="2A78D6"/>
            </a:solidFill>
            <a:prstDash val="solid"/>
          </a:ln>
        </p:spPr>
      </p:sp>
      <p:pic>
        <p:nvPicPr>
          <p:cNvPr id="33" name="Image 4" descr="preencoded.png">    </p:cNvPr>
          <p:cNvPicPr>
            <a:picLocks noChangeAspect="1"/>
          </p:cNvPicPr>
          <p:nvPr/>
        </p:nvPicPr>
        <p:blipFill>
          <a:blip r:embed="rId5"/>
          <a:stretch>
            <a:fillRect/>
          </a:stretch>
        </p:blipFill>
        <p:spPr>
          <a:xfrm>
            <a:off x="8743950" y="1977390"/>
            <a:ext cx="388620" cy="388620"/>
          </a:xfrm>
          <a:prstGeom prst="rect">
            <a:avLst/>
          </a:prstGeom>
        </p:spPr>
      </p:pic>
      <p:sp>
        <p:nvSpPr>
          <p:cNvPr id="34" name="Shape 27"/>
          <p:cNvSpPr/>
          <p:nvPr/>
        </p:nvSpPr>
        <p:spPr>
          <a:xfrm>
            <a:off x="9418320" y="2171700"/>
            <a:ext cx="868680" cy="0"/>
          </a:xfrm>
          <a:prstGeom prst="line">
            <a:avLst/>
          </a:prstGeom>
          <a:noFill/>
          <a:ln w="19050">
            <a:solidFill>
              <a:srgbClr val="C3C2B7"/>
            </a:solidFill>
            <a:prstDash val="solid"/>
            <a:tailEnd type="triangle"/>
          </a:ln>
        </p:spPr>
      </p:sp>
      <p:sp>
        <p:nvSpPr>
          <p:cNvPr id="35" name="Text 28"/>
          <p:cNvSpPr txBox="1"/>
          <p:nvPr/>
        </p:nvSpPr>
        <p:spPr>
          <a:xfrm>
            <a:off x="8046720" y="2743200"/>
            <a:ext cx="1783080" cy="320040"/>
          </a:xfrm>
          <a:prstGeom prst="rect">
            <a:avLst/>
          </a:prstGeom>
          <a:noFill/>
          <a:ln/>
        </p:spPr>
        <p:txBody>
          <a:bodyPr wrap="square" lIns="0" tIns="0" rIns="0" bIns="0" rtlCol="0" anchor="ctr"/>
          <a:lstStyle/>
          <a:p>
            <a:pPr algn="ctr" indent="0" marL="0">
              <a:buNone/>
            </a:pPr>
            <a:r>
              <a:rPr lang="en-US" sz="1200" b="1" dirty="0">
                <a:solidFill>
                  <a:srgbClr val="5F6368"/>
                </a:solidFill>
                <a:latin typeface="Calibri" pitchFamily="34" charset="0"/>
                <a:ea typeface="Calibri" pitchFamily="34" charset="-122"/>
                <a:cs typeface="Calibri" pitchFamily="34" charset="-120"/>
              </a:rPr>
              <a:t>6.5</a:t>
            </a:r>
            <a:endParaRPr lang="en-US" sz="1200" dirty="0"/>
          </a:p>
        </p:txBody>
      </p:sp>
      <p:sp>
        <p:nvSpPr>
          <p:cNvPr id="36" name="Text 29"/>
          <p:cNvSpPr txBox="1"/>
          <p:nvPr/>
        </p:nvSpPr>
        <p:spPr>
          <a:xfrm>
            <a:off x="8046720" y="3035808"/>
            <a:ext cx="1783080" cy="411480"/>
          </a:xfrm>
          <a:prstGeom prst="rect">
            <a:avLst/>
          </a:prstGeom>
          <a:noFill/>
          <a:ln/>
        </p:spPr>
        <p:txBody>
          <a:bodyPr wrap="square" lIns="0" tIns="0" rIns="0" bIns="0" rtlCol="0" anchor="ctr"/>
          <a:lstStyle/>
          <a:p>
            <a:pPr algn="ctr" indent="0" marL="0">
              <a:buNone/>
            </a:pPr>
            <a:r>
              <a:rPr lang="en-US" sz="1600" b="1" dirty="0">
                <a:solidFill>
                  <a:srgbClr val="1F2328"/>
                </a:solidFill>
                <a:latin typeface="Cambria" pitchFamily="34" charset="0"/>
                <a:ea typeface="Cambria" pitchFamily="34" charset="-122"/>
                <a:cs typeface="Cambria" pitchFamily="34" charset="-120"/>
              </a:rPr>
              <a:t>Day &amp; month</a:t>
            </a:r>
            <a:endParaRPr lang="en-US" sz="1600" dirty="0"/>
          </a:p>
        </p:txBody>
      </p:sp>
      <p:sp>
        <p:nvSpPr>
          <p:cNvPr id="37" name="Text 30"/>
          <p:cNvSpPr txBox="1"/>
          <p:nvPr/>
        </p:nvSpPr>
        <p:spPr>
          <a:xfrm>
            <a:off x="8046720" y="4160520"/>
            <a:ext cx="1783080" cy="274320"/>
          </a:xfrm>
          <a:prstGeom prst="rect">
            <a:avLst/>
          </a:prstGeom>
          <a:noFill/>
          <a:ln/>
        </p:spPr>
        <p:txBody>
          <a:bodyPr wrap="square" lIns="0" tIns="0" rIns="0" bIns="0" rtlCol="0" anchor="ctr"/>
          <a:lstStyle/>
          <a:p>
            <a:pPr algn="ctr" indent="0" marL="0">
              <a:buNone/>
            </a:pPr>
            <a:r>
              <a:rPr lang="en-US" sz="1100" b="1" i="1" dirty="0">
                <a:solidFill>
                  <a:srgbClr val="1E7A3C"/>
                </a:solidFill>
                <a:latin typeface="Calibri" pitchFamily="34" charset="0"/>
                <a:ea typeface="Calibri" pitchFamily="34" charset="-122"/>
                <a:cs typeface="Calibri" pitchFamily="34" charset="-120"/>
              </a:rPr>
              <a:t>Hasini</a:t>
            </a:r>
            <a:endParaRPr lang="en-US" sz="1100" dirty="0"/>
          </a:p>
        </p:txBody>
      </p:sp>
      <p:sp>
        <p:nvSpPr>
          <p:cNvPr id="38" name="Text 31"/>
          <p:cNvSpPr txBox="1"/>
          <p:nvPr/>
        </p:nvSpPr>
        <p:spPr>
          <a:xfrm>
            <a:off x="8092440" y="3474720"/>
            <a:ext cx="1691640" cy="685800"/>
          </a:xfrm>
          <a:prstGeom prst="rect">
            <a:avLst/>
          </a:prstGeom>
          <a:noFill/>
          <a:ln/>
        </p:spPr>
        <p:txBody>
          <a:bodyPr wrap="square" lIns="0" tIns="0" rIns="0" bIns="0" rtlCol="0" anchor="t"/>
          <a:lstStyle/>
          <a:p>
            <a:pPr algn="ctr" indent="0" marL="0">
              <a:buNone/>
            </a:pPr>
            <a:r>
              <a:rPr lang="en-US" sz="1200" dirty="0">
                <a:solidFill>
                  <a:srgbClr val="3C4043"/>
                </a:solidFill>
                <a:latin typeface="Calibri" pitchFamily="34" charset="0"/>
                <a:ea typeface="Calibri" pitchFamily="34" charset="-122"/>
                <a:cs typeface="Calibri" pitchFamily="34" charset="-120"/>
              </a:rPr>
              <a:t>When do customers shop?</a:t>
            </a:r>
            <a:endParaRPr lang="en-US" sz="1200" dirty="0"/>
          </a:p>
        </p:txBody>
      </p:sp>
      <p:sp>
        <p:nvSpPr>
          <p:cNvPr id="39" name="Shape 32"/>
          <p:cNvSpPr/>
          <p:nvPr/>
        </p:nvSpPr>
        <p:spPr>
          <a:xfrm>
            <a:off x="10424160" y="1783080"/>
            <a:ext cx="777240" cy="777240"/>
          </a:xfrm>
          <a:prstGeom prst="ellipse">
            <a:avLst/>
          </a:prstGeom>
          <a:solidFill>
            <a:srgbClr val="E8A33D"/>
          </a:solidFill>
          <a:ln w="12700">
            <a:solidFill>
              <a:srgbClr val="E8A33D"/>
            </a:solidFill>
            <a:prstDash val="solid"/>
          </a:ln>
        </p:spPr>
      </p:sp>
      <p:pic>
        <p:nvPicPr>
          <p:cNvPr id="40" name="Image 5" descr="preencoded.png">    </p:cNvPr>
          <p:cNvPicPr>
            <a:picLocks noChangeAspect="1"/>
          </p:cNvPicPr>
          <p:nvPr/>
        </p:nvPicPr>
        <p:blipFill>
          <a:blip r:embed="rId6"/>
          <a:stretch>
            <a:fillRect/>
          </a:stretch>
        </p:blipFill>
        <p:spPr>
          <a:xfrm>
            <a:off x="10618470" y="1977390"/>
            <a:ext cx="388620" cy="388620"/>
          </a:xfrm>
          <a:prstGeom prst="rect">
            <a:avLst/>
          </a:prstGeom>
        </p:spPr>
      </p:pic>
      <p:sp>
        <p:nvSpPr>
          <p:cNvPr id="41" name="Text 33"/>
          <p:cNvSpPr txBox="1"/>
          <p:nvPr/>
        </p:nvSpPr>
        <p:spPr>
          <a:xfrm>
            <a:off x="9921240" y="2743200"/>
            <a:ext cx="1783080" cy="320040"/>
          </a:xfrm>
          <a:prstGeom prst="rect">
            <a:avLst/>
          </a:prstGeom>
          <a:noFill/>
          <a:ln/>
        </p:spPr>
        <p:txBody>
          <a:bodyPr wrap="square" lIns="0" tIns="0" rIns="0" bIns="0" rtlCol="0" anchor="ctr"/>
          <a:lstStyle/>
          <a:p>
            <a:pPr algn="ctr" indent="0" marL="0">
              <a:buNone/>
            </a:pPr>
            <a:r>
              <a:rPr lang="en-US" sz="1200" b="1" dirty="0">
                <a:solidFill>
                  <a:srgbClr val="5F6368"/>
                </a:solidFill>
                <a:latin typeface="Calibri" pitchFamily="34" charset="0"/>
                <a:ea typeface="Calibri" pitchFamily="34" charset="-122"/>
                <a:cs typeface="Calibri" pitchFamily="34" charset="-120"/>
              </a:rPr>
              <a:t>6.6</a:t>
            </a:r>
            <a:endParaRPr lang="en-US" sz="1200" dirty="0"/>
          </a:p>
        </p:txBody>
      </p:sp>
      <p:sp>
        <p:nvSpPr>
          <p:cNvPr id="42" name="Text 34"/>
          <p:cNvSpPr txBox="1"/>
          <p:nvPr/>
        </p:nvSpPr>
        <p:spPr>
          <a:xfrm>
            <a:off x="9921240" y="3035808"/>
            <a:ext cx="1783080" cy="411480"/>
          </a:xfrm>
          <a:prstGeom prst="rect">
            <a:avLst/>
          </a:prstGeom>
          <a:noFill/>
          <a:ln/>
        </p:spPr>
        <p:txBody>
          <a:bodyPr wrap="square" lIns="0" tIns="0" rIns="0" bIns="0" rtlCol="0" anchor="ctr"/>
          <a:lstStyle/>
          <a:p>
            <a:pPr algn="ctr" indent="0" marL="0">
              <a:buNone/>
            </a:pPr>
            <a:r>
              <a:rPr lang="en-US" sz="1600" b="1" dirty="0">
                <a:solidFill>
                  <a:srgbClr val="1F2328"/>
                </a:solidFill>
                <a:latin typeface="Cambria" pitchFamily="34" charset="0"/>
                <a:ea typeface="Cambria" pitchFamily="34" charset="-122"/>
                <a:cs typeface="Cambria" pitchFamily="34" charset="-120"/>
              </a:rPr>
              <a:t>Briefing</a:t>
            </a:r>
            <a:endParaRPr lang="en-US" sz="1600" dirty="0"/>
          </a:p>
        </p:txBody>
      </p:sp>
      <p:sp>
        <p:nvSpPr>
          <p:cNvPr id="43" name="Text 35"/>
          <p:cNvSpPr txBox="1"/>
          <p:nvPr/>
        </p:nvSpPr>
        <p:spPr>
          <a:xfrm>
            <a:off x="9921240" y="4160520"/>
            <a:ext cx="1783080" cy="274320"/>
          </a:xfrm>
          <a:prstGeom prst="rect">
            <a:avLst/>
          </a:prstGeom>
          <a:noFill/>
          <a:ln/>
        </p:spPr>
        <p:txBody>
          <a:bodyPr wrap="square" lIns="0" tIns="0" rIns="0" bIns="0" rtlCol="0" anchor="ctr"/>
          <a:lstStyle/>
          <a:p>
            <a:pPr algn="ctr" indent="0" marL="0">
              <a:buNone/>
            </a:pPr>
            <a:r>
              <a:rPr lang="en-US" sz="1100" b="1" i="1" dirty="0">
                <a:solidFill>
                  <a:srgbClr val="B3541E"/>
                </a:solidFill>
                <a:latin typeface="Calibri" pitchFamily="34" charset="0"/>
                <a:ea typeface="Calibri" pitchFamily="34" charset="-122"/>
                <a:cs typeface="Calibri" pitchFamily="34" charset="-120"/>
              </a:rPr>
              <a:t>Mutee</a:t>
            </a:r>
            <a:endParaRPr lang="en-US" sz="1100" dirty="0"/>
          </a:p>
        </p:txBody>
      </p:sp>
      <p:sp>
        <p:nvSpPr>
          <p:cNvPr id="44" name="Text 36"/>
          <p:cNvSpPr txBox="1"/>
          <p:nvPr/>
        </p:nvSpPr>
        <p:spPr>
          <a:xfrm>
            <a:off x="9966960" y="3474720"/>
            <a:ext cx="1691640" cy="685800"/>
          </a:xfrm>
          <a:prstGeom prst="rect">
            <a:avLst/>
          </a:prstGeom>
          <a:noFill/>
          <a:ln/>
        </p:spPr>
        <p:txBody>
          <a:bodyPr wrap="square" lIns="0" tIns="0" rIns="0" bIns="0" rtlCol="0" anchor="t"/>
          <a:lstStyle/>
          <a:p>
            <a:pPr algn="ctr" indent="0" marL="0">
              <a:buNone/>
            </a:pPr>
            <a:r>
              <a:rPr lang="en-US" sz="1200" dirty="0">
                <a:solidFill>
                  <a:srgbClr val="3C4043"/>
                </a:solidFill>
                <a:latin typeface="Calibri" pitchFamily="34" charset="0"/>
                <a:ea typeface="Calibri" pitchFamily="34" charset="-122"/>
                <a:cs typeface="Calibri" pitchFamily="34" charset="-120"/>
              </a:rPr>
              <a:t>Invest / challenge / watch / hold</a:t>
            </a:r>
            <a:endParaRPr lang="en-US" sz="1200" dirty="0"/>
          </a:p>
        </p:txBody>
      </p:sp>
      <p:sp>
        <p:nvSpPr>
          <p:cNvPr id="45" name="Shape 37"/>
          <p:cNvSpPr/>
          <p:nvPr/>
        </p:nvSpPr>
        <p:spPr>
          <a:xfrm>
            <a:off x="548640" y="4572000"/>
            <a:ext cx="11064240" cy="1463040"/>
          </a:xfrm>
          <a:prstGeom prst="roundRect">
            <a:avLst>
              <a:gd name="adj" fmla="val 5000"/>
            </a:avLst>
          </a:prstGeom>
          <a:solidFill>
            <a:srgbClr val="F2F3F5"/>
          </a:solidFill>
          <a:ln w="12700">
            <a:solidFill>
              <a:srgbClr val="F2F3F5"/>
            </a:solidFill>
            <a:prstDash val="solid"/>
          </a:ln>
        </p:spPr>
      </p:sp>
      <p:sp>
        <p:nvSpPr>
          <p:cNvPr id="46" name="Text 38"/>
          <p:cNvSpPr txBox="1"/>
          <p:nvPr/>
        </p:nvSpPr>
        <p:spPr>
          <a:xfrm>
            <a:off x="822960" y="4709160"/>
            <a:ext cx="10515600" cy="365760"/>
          </a:xfrm>
          <a:prstGeom prst="rect">
            <a:avLst/>
          </a:prstGeom>
          <a:noFill/>
          <a:ln/>
        </p:spPr>
        <p:txBody>
          <a:bodyPr wrap="square" lIns="0" tIns="0" rIns="0" bIns="0" rtlCol="0" anchor="ctr"/>
          <a:lstStyle/>
          <a:p>
            <a:pPr indent="0" marL="0">
              <a:buNone/>
            </a:pPr>
            <a:r>
              <a:rPr lang="en-US" sz="1600" b="1" dirty="0">
                <a:solidFill>
                  <a:srgbClr val="1F2328"/>
                </a:solidFill>
                <a:latin typeface="Cambria" pitchFamily="34" charset="0"/>
                <a:ea typeface="Cambria" pitchFamily="34" charset="-122"/>
                <a:cs typeface="Cambria" pitchFamily="34" charset="-120"/>
              </a:rPr>
              <a:t>Design rules applied to every chart</a:t>
            </a:r>
            <a:endParaRPr lang="en-US" sz="1600" dirty="0"/>
          </a:p>
        </p:txBody>
      </p:sp>
      <p:sp>
        <p:nvSpPr>
          <p:cNvPr id="47" name="Text 39"/>
          <p:cNvSpPr txBox="1"/>
          <p:nvPr/>
        </p:nvSpPr>
        <p:spPr>
          <a:xfrm>
            <a:off x="822960" y="5074920"/>
            <a:ext cx="5486400" cy="914400"/>
          </a:xfrm>
          <a:prstGeom prst="rect">
            <a:avLst/>
          </a:prstGeom>
          <a:noFill/>
          <a:ln/>
        </p:spPr>
        <p:txBody>
          <a:bodyPr wrap="square" lIns="0" tIns="0" rIns="0" bIns="0" rtlCol="0" anchor="ctr"/>
          <a:lstStyle/>
          <a:p>
            <a:pPr marL="342900" indent="-342900">
              <a:spcAft>
                <a:spcPts val="200"/>
              </a:spcAft>
              <a:buSzPct val="100000"/>
              <a:buChar char="•"/>
            </a:pPr>
            <a:r>
              <a:rPr lang="en-US" sz="1300" dirty="0">
                <a:solidFill>
                  <a:srgbClr val="3C4043"/>
                </a:solidFill>
                <a:latin typeface="Calibri" pitchFamily="34" charset="0"/>
                <a:ea typeface="Calibri" pitchFamily="34" charset="-122"/>
                <a:cs typeface="Calibri" pitchFamily="34" charset="-120"/>
              </a:rPr>
              <a:t>The title states the finding</a:t>
            </a:r>
            <a:endParaRPr lang="en-US" sz="1300" dirty="0"/>
          </a:p>
          <a:p>
            <a:pPr marL="342900" indent="-342900">
              <a:spcAft>
                <a:spcPts val="200"/>
              </a:spcAft>
              <a:buSzPct val="100000"/>
              <a:buChar char="•"/>
            </a:pPr>
            <a:r>
              <a:rPr lang="en-US" sz="1300" dirty="0">
                <a:solidFill>
                  <a:srgbClr val="3C4043"/>
                </a:solidFill>
                <a:latin typeface="Calibri" pitchFamily="34" charset="0"/>
                <a:ea typeface="Calibri" pitchFamily="34" charset="-122"/>
                <a:cs typeface="Calibri" pitchFamily="34" charset="-120"/>
              </a:rPr>
              <a:t>Blue = growing, red = declining, grey = stable — everywhere</a:t>
            </a:r>
            <a:endParaRPr lang="en-US" sz="1300" dirty="0"/>
          </a:p>
          <a:p>
            <a:pPr marL="342900" indent="-342900">
              <a:spcAft>
                <a:spcPts val="200"/>
              </a:spcAft>
              <a:buSzPct val="100000"/>
              <a:buChar char="•"/>
            </a:pPr>
            <a:r>
              <a:rPr lang="en-US" sz="1300" dirty="0">
                <a:solidFill>
                  <a:srgbClr val="3C4043"/>
                </a:solidFill>
                <a:latin typeface="Calibri" pitchFamily="34" charset="0"/>
                <a:ea typeface="Calibri" pitchFamily="34" charset="-122"/>
                <a:cs typeface="Calibri" pitchFamily="34" charset="-120"/>
              </a:rPr>
              <a:t>Money in ₹ Lakh / ₹ Crore; business labels, not column names</a:t>
            </a:r>
            <a:endParaRPr lang="en-US" sz="1300" dirty="0"/>
          </a:p>
        </p:txBody>
      </p:sp>
      <p:sp>
        <p:nvSpPr>
          <p:cNvPr id="48" name="Text 40"/>
          <p:cNvSpPr txBox="1"/>
          <p:nvPr/>
        </p:nvSpPr>
        <p:spPr>
          <a:xfrm>
            <a:off x="6309360" y="5074920"/>
            <a:ext cx="5120640" cy="914400"/>
          </a:xfrm>
          <a:prstGeom prst="rect">
            <a:avLst/>
          </a:prstGeom>
          <a:noFill/>
          <a:ln/>
        </p:spPr>
        <p:txBody>
          <a:bodyPr wrap="square" lIns="0" tIns="0" rIns="0" bIns="0" rtlCol="0" anchor="ctr"/>
          <a:lstStyle/>
          <a:p>
            <a:pPr marL="342900" indent="-342900">
              <a:spcAft>
                <a:spcPts val="200"/>
              </a:spcAft>
              <a:buSzPct val="100000"/>
              <a:buChar char="•"/>
            </a:pPr>
            <a:r>
              <a:rPr lang="en-US" sz="1300" dirty="0">
                <a:solidFill>
                  <a:srgbClr val="3C4043"/>
                </a:solidFill>
                <a:latin typeface="Calibri" pitchFamily="34" charset="0"/>
                <a:ea typeface="Calibri" pitchFamily="34" charset="-122"/>
                <a:cs typeface="Calibri" pitchFamily="34" charset="-120"/>
              </a:rPr>
              <a:t>Python, pandas, NumPy, Matplotlib, Seaborn</a:t>
            </a:r>
            <a:endParaRPr lang="en-US" sz="1300" dirty="0"/>
          </a:p>
          <a:p>
            <a:pPr marL="342900" indent="-342900">
              <a:spcAft>
                <a:spcPts val="200"/>
              </a:spcAft>
              <a:buSzPct val="100000"/>
              <a:buChar char="•"/>
            </a:pPr>
            <a:r>
              <a:rPr lang="en-US" sz="1300" dirty="0">
                <a:solidFill>
                  <a:srgbClr val="3C4043"/>
                </a:solidFill>
                <a:latin typeface="Calibri" pitchFamily="34" charset="0"/>
                <a:ea typeface="Calibri" pitchFamily="34" charset="-122"/>
                <a:cs typeface="Calibri" pitchFamily="34" charset="-120"/>
              </a:rPr>
              <a:t>Notebook re-run end-to-end from a fresh kernel — no errors</a:t>
            </a:r>
            <a:endParaRPr lang="en-US" sz="1300" dirty="0"/>
          </a:p>
          <a:p>
            <a:pPr marL="342900" indent="-342900">
              <a:spcAft>
                <a:spcPts val="200"/>
              </a:spcAft>
              <a:buSzPct val="100000"/>
              <a:buChar char="•"/>
            </a:pPr>
            <a:r>
              <a:rPr lang="en-US" sz="1300" dirty="0">
                <a:solidFill>
                  <a:srgbClr val="3C4043"/>
                </a:solidFill>
                <a:latin typeface="Calibri" pitchFamily="34" charset="0"/>
                <a:ea typeface="Calibri" pitchFamily="34" charset="-122"/>
                <a:cs typeface="Calibri" pitchFamily="34" charset="-120"/>
              </a:rPr>
              <a:t>Every figure in the text checked against the output</a:t>
            </a:r>
            <a:endParaRPr lang="en-US" sz="1300" dirty="0"/>
          </a:p>
        </p:txBody>
      </p:sp>
      <p:sp>
        <p:nvSpPr>
          <p:cNvPr id="49" name="Text 41"/>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Saalif Udyawar   ·   MUC01 · Category Intelligence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Electronics is 4% of bills but 49% of revenue</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Grocery is the opposite — half of all bills, 9% of the money</a:t>
            </a:r>
            <a:endParaRPr lang="en-US" sz="1500" dirty="0"/>
          </a:p>
        </p:txBody>
      </p:sp>
      <p:graphicFrame>
        <p:nvGraphicFramePr>
          <p:cNvPr id="4" name="Chart 0" descr=""/>
          <p:cNvGraphicFramePr/>
          <p:nvPr/>
        </p:nvGraphicFramePr>
        <p:xfrm>
          <a:off x="548640" y="15087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645920"/>
            <a:ext cx="3749040" cy="1325880"/>
          </a:xfrm>
          <a:prstGeom prst="roundRect">
            <a:avLst>
              <a:gd name="adj" fmla="val 5517"/>
            </a:avLst>
          </a:prstGeom>
          <a:solidFill>
            <a:srgbClr val="F2F3F5"/>
          </a:solidFill>
          <a:ln w="12700">
            <a:solidFill>
              <a:srgbClr val="F2F3F5"/>
            </a:solidFill>
            <a:prstDash val="solid"/>
          </a:ln>
        </p:spPr>
      </p:sp>
      <p:sp>
        <p:nvSpPr>
          <p:cNvPr id="6" name="Text 3"/>
          <p:cNvSpPr txBox="1"/>
          <p:nvPr/>
        </p:nvSpPr>
        <p:spPr>
          <a:xfrm>
            <a:off x="8092440" y="1783080"/>
            <a:ext cx="3383280" cy="502920"/>
          </a:xfrm>
          <a:prstGeom prst="rect">
            <a:avLst/>
          </a:prstGeom>
          <a:noFill/>
          <a:ln/>
        </p:spPr>
        <p:txBody>
          <a:bodyPr wrap="square" lIns="0" tIns="0" rIns="0" bIns="0" rtlCol="0" anchor="ctr"/>
          <a:lstStyle/>
          <a:p>
            <a:pPr indent="0" marL="0">
              <a:buNone/>
            </a:pPr>
            <a:r>
              <a:rPr lang="en-US" sz="2600" b="1" dirty="0">
                <a:solidFill>
                  <a:srgbClr val="D03B3B"/>
                </a:solidFill>
                <a:latin typeface="Cambria" pitchFamily="34" charset="0"/>
                <a:ea typeface="Cambria" pitchFamily="34" charset="-122"/>
                <a:cs typeface="Cambria" pitchFamily="34" charset="-120"/>
              </a:rPr>
              <a:t>₹56,420</a:t>
            </a:r>
            <a:endParaRPr lang="en-US" sz="2600" dirty="0"/>
          </a:p>
        </p:txBody>
      </p:sp>
      <p:sp>
        <p:nvSpPr>
          <p:cNvPr id="7" name="Text 4"/>
          <p:cNvSpPr txBox="1"/>
          <p:nvPr/>
        </p:nvSpPr>
        <p:spPr>
          <a:xfrm>
            <a:off x="8092440" y="2286000"/>
            <a:ext cx="3383280" cy="640080"/>
          </a:xfrm>
          <a:prstGeom prst="rect">
            <a:avLst/>
          </a:prstGeom>
          <a:noFill/>
          <a:ln/>
        </p:spPr>
        <p:txBody>
          <a:bodyPr wrap="square" lIns="0" tIns="0" rIns="0" bIns="0" rtlCol="0" anchor="t"/>
          <a:lstStyle/>
          <a:p>
            <a:pPr indent="0" marL="0">
              <a:buNone/>
            </a:pPr>
            <a:r>
              <a:rPr lang="en-US" sz="1250" dirty="0">
                <a:solidFill>
                  <a:srgbClr val="3C4043"/>
                </a:solidFill>
                <a:latin typeface="Calibri" pitchFamily="34" charset="0"/>
                <a:ea typeface="Calibri" pitchFamily="34" charset="-122"/>
                <a:cs typeface="Calibri" pitchFamily="34" charset="-120"/>
              </a:rPr>
              <a:t>average Electronics bill — one lost Electronics sale equals ~72 Grocery bills (₹781 each)</a:t>
            </a:r>
            <a:endParaRPr lang="en-US" sz="1250" dirty="0"/>
          </a:p>
        </p:txBody>
      </p:sp>
      <p:sp>
        <p:nvSpPr>
          <p:cNvPr id="8" name="Shape 5"/>
          <p:cNvSpPr/>
          <p:nvPr/>
        </p:nvSpPr>
        <p:spPr>
          <a:xfrm>
            <a:off x="7863840" y="3154680"/>
            <a:ext cx="3749040" cy="1325880"/>
          </a:xfrm>
          <a:prstGeom prst="roundRect">
            <a:avLst>
              <a:gd name="adj" fmla="val 5517"/>
            </a:avLst>
          </a:prstGeom>
          <a:solidFill>
            <a:srgbClr val="F2F3F5"/>
          </a:solidFill>
          <a:ln w="12700">
            <a:solidFill>
              <a:srgbClr val="F2F3F5"/>
            </a:solidFill>
            <a:prstDash val="solid"/>
          </a:ln>
        </p:spPr>
      </p:sp>
      <p:sp>
        <p:nvSpPr>
          <p:cNvPr id="9" name="Text 6"/>
          <p:cNvSpPr txBox="1"/>
          <p:nvPr/>
        </p:nvSpPr>
        <p:spPr>
          <a:xfrm>
            <a:off x="8092440" y="3291840"/>
            <a:ext cx="3383280" cy="502920"/>
          </a:xfrm>
          <a:prstGeom prst="rect">
            <a:avLst/>
          </a:prstGeom>
          <a:noFill/>
          <a:ln/>
        </p:spPr>
        <p:txBody>
          <a:bodyPr wrap="square" lIns="0" tIns="0" rIns="0" bIns="0" rtlCol="0" anchor="ctr"/>
          <a:lstStyle/>
          <a:p>
            <a:pPr indent="0" marL="0">
              <a:buNone/>
            </a:pPr>
            <a:r>
              <a:rPr lang="en-US" sz="2600" b="1" dirty="0">
                <a:solidFill>
                  <a:srgbClr val="1E7A3C"/>
                </a:solidFill>
                <a:latin typeface="Cambria" pitchFamily="34" charset="0"/>
                <a:ea typeface="Cambria" pitchFamily="34" charset="-122"/>
                <a:cs typeface="Cambria" pitchFamily="34" charset="-120"/>
              </a:rPr>
              <a:t>50%</a:t>
            </a:r>
            <a:endParaRPr lang="en-US" sz="2600" dirty="0"/>
          </a:p>
        </p:txBody>
      </p:sp>
      <p:sp>
        <p:nvSpPr>
          <p:cNvPr id="10" name="Text 7"/>
          <p:cNvSpPr txBox="1"/>
          <p:nvPr/>
        </p:nvSpPr>
        <p:spPr>
          <a:xfrm>
            <a:off x="8092440" y="3794760"/>
            <a:ext cx="3383280" cy="640080"/>
          </a:xfrm>
          <a:prstGeom prst="rect">
            <a:avLst/>
          </a:prstGeom>
          <a:noFill/>
          <a:ln/>
        </p:spPr>
        <p:txBody>
          <a:bodyPr wrap="square" lIns="0" tIns="0" rIns="0" bIns="0" rtlCol="0" anchor="t"/>
          <a:lstStyle/>
          <a:p>
            <a:pPr indent="0" marL="0">
              <a:buNone/>
            </a:pPr>
            <a:r>
              <a:rPr lang="en-US" sz="1250" dirty="0">
                <a:solidFill>
                  <a:srgbClr val="3C4043"/>
                </a:solidFill>
                <a:latin typeface="Calibri" pitchFamily="34" charset="0"/>
                <a:ea typeface="Calibri" pitchFamily="34" charset="-122"/>
                <a:cs typeface="Calibri" pitchFamily="34" charset="-120"/>
              </a:rPr>
              <a:t>of all transactions are Grocery — its effect on customer visits is not measured here</a:t>
            </a:r>
            <a:endParaRPr lang="en-US" sz="1250" dirty="0"/>
          </a:p>
        </p:txBody>
      </p:sp>
      <p:sp>
        <p:nvSpPr>
          <p:cNvPr id="11" name="Shape 8"/>
          <p:cNvSpPr/>
          <p:nvPr/>
        </p:nvSpPr>
        <p:spPr>
          <a:xfrm>
            <a:off x="7863840" y="4663440"/>
            <a:ext cx="3749040" cy="1325880"/>
          </a:xfrm>
          <a:prstGeom prst="roundRect">
            <a:avLst>
              <a:gd name="adj" fmla="val 5517"/>
            </a:avLst>
          </a:prstGeom>
          <a:solidFill>
            <a:srgbClr val="F2F3F5"/>
          </a:solidFill>
          <a:ln w="12700">
            <a:solidFill>
              <a:srgbClr val="F2F3F5"/>
            </a:solidFill>
            <a:prstDash val="solid"/>
          </a:ln>
        </p:spPr>
      </p:sp>
      <p:sp>
        <p:nvSpPr>
          <p:cNvPr id="12" name="Text 9"/>
          <p:cNvSpPr txBox="1"/>
          <p:nvPr/>
        </p:nvSpPr>
        <p:spPr>
          <a:xfrm>
            <a:off x="8092440" y="4800600"/>
            <a:ext cx="3383280" cy="502920"/>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₹4,264 vs ₹1,035</a:t>
            </a:r>
            <a:endParaRPr lang="en-US" sz="2600" dirty="0"/>
          </a:p>
        </p:txBody>
      </p:sp>
      <p:sp>
        <p:nvSpPr>
          <p:cNvPr id="13" name="Text 10"/>
          <p:cNvSpPr txBox="1"/>
          <p:nvPr/>
        </p:nvSpPr>
        <p:spPr>
          <a:xfrm>
            <a:off x="8092440" y="5303520"/>
            <a:ext cx="3383280" cy="640080"/>
          </a:xfrm>
          <a:prstGeom prst="rect">
            <a:avLst/>
          </a:prstGeom>
          <a:noFill/>
          <a:ln/>
        </p:spPr>
        <p:txBody>
          <a:bodyPr wrap="square" lIns="0" tIns="0" rIns="0" bIns="0" rtlCol="0" anchor="t"/>
          <a:lstStyle/>
          <a:p>
            <a:pPr indent="0" marL="0">
              <a:buNone/>
            </a:pPr>
            <a:r>
              <a:rPr lang="en-US" sz="1250" dirty="0">
                <a:solidFill>
                  <a:srgbClr val="3C4043"/>
                </a:solidFill>
                <a:latin typeface="Calibri" pitchFamily="34" charset="0"/>
                <a:ea typeface="Calibri" pitchFamily="34" charset="-122"/>
                <a:cs typeface="Calibri" pitchFamily="34" charset="-120"/>
              </a:rPr>
              <a:t>average vs median bill — a few big-ticket sales carry the chain</a:t>
            </a:r>
            <a:endParaRPr lang="en-US" sz="1250" dirty="0"/>
          </a:p>
        </p:txBody>
      </p:sp>
      <p:sp>
        <p:nvSpPr>
          <p:cNvPr id="14" name="Text 11"/>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Saalif Udyawar   ·   MUC01 · Category Intelligence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Electronics fell 35% while Apparel grew 34%</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Monthly revenue by category (₹ Lakh), January–June 2026</a:t>
            </a:r>
            <a:endParaRPr lang="en-US" sz="1500" dirty="0"/>
          </a:p>
        </p:txBody>
      </p:sp>
      <p:graphicFrame>
        <p:nvGraphicFramePr>
          <p:cNvPr id="4" name="Chart 0" descr=""/>
          <p:cNvGraphicFramePr/>
          <p:nvPr/>
        </p:nvGraphicFramePr>
        <p:xfrm>
          <a:off x="548640" y="146304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600200"/>
            <a:ext cx="3383280" cy="1371600"/>
          </a:xfrm>
          <a:prstGeom prst="roundRect">
            <a:avLst>
              <a:gd name="adj" fmla="val 5333"/>
            </a:avLst>
          </a:prstGeom>
          <a:solidFill>
            <a:srgbClr val="F2F3F5"/>
          </a:solidFill>
          <a:ln w="12700">
            <a:solidFill>
              <a:srgbClr val="F2F3F5"/>
            </a:solidFill>
            <a:prstDash val="solid"/>
          </a:ln>
        </p:spPr>
      </p:sp>
      <p:sp>
        <p:nvSpPr>
          <p:cNvPr id="6" name="Text 3"/>
          <p:cNvSpPr txBox="1"/>
          <p:nvPr/>
        </p:nvSpPr>
        <p:spPr>
          <a:xfrm>
            <a:off x="8412480" y="1709928"/>
            <a:ext cx="3063240" cy="457200"/>
          </a:xfrm>
          <a:prstGeom prst="rect">
            <a:avLst/>
          </a:prstGeom>
          <a:noFill/>
          <a:ln/>
        </p:spPr>
        <p:txBody>
          <a:bodyPr wrap="square" lIns="0" tIns="0" rIns="0" bIns="0" rtlCol="0" anchor="ctr"/>
          <a:lstStyle/>
          <a:p>
            <a:pPr indent="0" marL="0">
              <a:buNone/>
            </a:pPr>
            <a:r>
              <a:rPr lang="en-US" sz="2200" b="1" dirty="0">
                <a:solidFill>
                  <a:srgbClr val="D03B3B"/>
                </a:solidFill>
                <a:latin typeface="Cambria" pitchFamily="34" charset="0"/>
                <a:ea typeface="Cambria" pitchFamily="34" charset="-122"/>
                <a:cs typeface="Cambria" pitchFamily="34" charset="-120"/>
              </a:rPr>
              <a:t>−₹1.60 Cr</a:t>
            </a:r>
            <a:endParaRPr lang="en-US" sz="2200" dirty="0"/>
          </a:p>
        </p:txBody>
      </p:sp>
      <p:sp>
        <p:nvSpPr>
          <p:cNvPr id="7" name="Text 4"/>
          <p:cNvSpPr txBox="1"/>
          <p:nvPr/>
        </p:nvSpPr>
        <p:spPr>
          <a:xfrm>
            <a:off x="8412480" y="2167128"/>
            <a:ext cx="3063240" cy="777240"/>
          </a:xfrm>
          <a:prstGeom prst="rect">
            <a:avLst/>
          </a:prstGeom>
          <a:noFill/>
          <a:ln/>
        </p:spPr>
        <p:txBody>
          <a:bodyPr wrap="square" lIns="0" tIns="0" rIns="0" bIns="0" rtlCol="0" anchor="t"/>
          <a:lstStyle/>
          <a:p>
            <a:pPr indent="0" marL="0">
              <a:buNone/>
            </a:pPr>
            <a:r>
              <a:rPr lang="en-US" sz="1200" dirty="0">
                <a:solidFill>
                  <a:srgbClr val="3C4043"/>
                </a:solidFill>
                <a:latin typeface="Calibri" pitchFamily="34" charset="0"/>
                <a:ea typeface="Calibri" pitchFamily="34" charset="-122"/>
                <a:cs typeface="Calibri" pitchFamily="34" charset="-120"/>
              </a:rPr>
              <a:t>June Electronics revenue vs January (₹4.57 Cr → ₹2.97 Cr). Transactions −33%, prices −2%; the cause is not established by the data.</a:t>
            </a:r>
            <a:endParaRPr lang="en-US" sz="1200" dirty="0"/>
          </a:p>
        </p:txBody>
      </p:sp>
      <p:sp>
        <p:nvSpPr>
          <p:cNvPr id="8" name="Shape 5"/>
          <p:cNvSpPr/>
          <p:nvPr/>
        </p:nvSpPr>
        <p:spPr>
          <a:xfrm>
            <a:off x="8229600" y="3154680"/>
            <a:ext cx="3383280" cy="1371600"/>
          </a:xfrm>
          <a:prstGeom prst="roundRect">
            <a:avLst>
              <a:gd name="adj" fmla="val 5333"/>
            </a:avLst>
          </a:prstGeom>
          <a:solidFill>
            <a:srgbClr val="F2F3F5"/>
          </a:solidFill>
          <a:ln w="12700">
            <a:solidFill>
              <a:srgbClr val="F2F3F5"/>
            </a:solidFill>
            <a:prstDash val="solid"/>
          </a:ln>
        </p:spPr>
      </p:sp>
      <p:sp>
        <p:nvSpPr>
          <p:cNvPr id="9" name="Text 6"/>
          <p:cNvSpPr txBox="1"/>
          <p:nvPr/>
        </p:nvSpPr>
        <p:spPr>
          <a:xfrm>
            <a:off x="8412480" y="3264408"/>
            <a:ext cx="3063240" cy="457200"/>
          </a:xfrm>
          <a:prstGeom prst="rect">
            <a:avLst/>
          </a:prstGeom>
          <a:noFill/>
          <a:ln/>
        </p:spPr>
        <p:txBody>
          <a:bodyPr wrap="square" lIns="0" tIns="0" rIns="0" bIns="0" rtlCol="0" anchor="ctr"/>
          <a:lstStyle/>
          <a:p>
            <a:pPr indent="0" marL="0">
              <a:buNone/>
            </a:pPr>
            <a:r>
              <a:rPr lang="en-US" sz="2200" b="1" dirty="0">
                <a:solidFill>
                  <a:srgbClr val="2A78D6"/>
                </a:solidFill>
                <a:latin typeface="Cambria" pitchFamily="34" charset="0"/>
                <a:ea typeface="Cambria" pitchFamily="34" charset="-122"/>
                <a:cs typeface="Cambria" pitchFamily="34" charset="-120"/>
              </a:rPr>
              <a:t>+34%</a:t>
            </a:r>
            <a:endParaRPr lang="en-US" sz="2200" dirty="0"/>
          </a:p>
        </p:txBody>
      </p:sp>
      <p:sp>
        <p:nvSpPr>
          <p:cNvPr id="10" name="Text 7"/>
          <p:cNvSpPr txBox="1"/>
          <p:nvPr/>
        </p:nvSpPr>
        <p:spPr>
          <a:xfrm>
            <a:off x="8412480" y="3721608"/>
            <a:ext cx="3063240" cy="777240"/>
          </a:xfrm>
          <a:prstGeom prst="rect">
            <a:avLst/>
          </a:prstGeom>
          <a:noFill/>
          <a:ln/>
        </p:spPr>
        <p:txBody>
          <a:bodyPr wrap="square" lIns="0" tIns="0" rIns="0" bIns="0" rtlCol="0" anchor="t"/>
          <a:lstStyle/>
          <a:p>
            <a:pPr indent="0" marL="0">
              <a:buNone/>
            </a:pPr>
            <a:r>
              <a:rPr lang="en-US" sz="1200" dirty="0">
                <a:solidFill>
                  <a:srgbClr val="3C4043"/>
                </a:solidFill>
                <a:latin typeface="Calibri" pitchFamily="34" charset="0"/>
                <a:ea typeface="Calibri" pitchFamily="34" charset="-122"/>
                <a:cs typeface="Calibri" pitchFamily="34" charset="-120"/>
              </a:rPr>
              <a:t>Apparel: ₹1.01 Cr → ₹1.35 Cr; recorded transactions +31% (customer and seasonal data needed to explain why).</a:t>
            </a:r>
            <a:endParaRPr lang="en-US" sz="1200" dirty="0"/>
          </a:p>
        </p:txBody>
      </p:sp>
      <p:sp>
        <p:nvSpPr>
          <p:cNvPr id="11" name="Shape 8"/>
          <p:cNvSpPr/>
          <p:nvPr/>
        </p:nvSpPr>
        <p:spPr>
          <a:xfrm>
            <a:off x="8229600" y="4709160"/>
            <a:ext cx="3383280" cy="1371600"/>
          </a:xfrm>
          <a:prstGeom prst="roundRect">
            <a:avLst>
              <a:gd name="adj" fmla="val 5333"/>
            </a:avLst>
          </a:prstGeom>
          <a:solidFill>
            <a:srgbClr val="F2F3F5"/>
          </a:solidFill>
          <a:ln w="12700">
            <a:solidFill>
              <a:srgbClr val="F2F3F5"/>
            </a:solidFill>
            <a:prstDash val="solid"/>
          </a:ln>
        </p:spPr>
      </p:sp>
      <p:sp>
        <p:nvSpPr>
          <p:cNvPr id="12" name="Text 9"/>
          <p:cNvSpPr txBox="1"/>
          <p:nvPr/>
        </p:nvSpPr>
        <p:spPr>
          <a:xfrm>
            <a:off x="8412480" y="4818888"/>
            <a:ext cx="3063240" cy="457200"/>
          </a:xfrm>
          <a:prstGeom prst="rect">
            <a:avLst/>
          </a:prstGeom>
          <a:noFill/>
          <a:ln/>
        </p:spPr>
        <p:txBody>
          <a:bodyPr wrap="square" lIns="0" tIns="0" rIns="0" bIns="0" rtlCol="0" anchor="ctr"/>
          <a:lstStyle/>
          <a:p>
            <a:pPr indent="0" marL="0">
              <a:buNone/>
            </a:pPr>
            <a:r>
              <a:rPr lang="en-US" sz="2200" b="1" dirty="0">
                <a:solidFill>
                  <a:srgbClr val="1F2328"/>
                </a:solidFill>
                <a:latin typeface="Cambria" pitchFamily="34" charset="0"/>
                <a:ea typeface="Cambria" pitchFamily="34" charset="-122"/>
                <a:cs typeface="Cambria" pitchFamily="34" charset="-120"/>
              </a:rPr>
              <a:t>+1.3%</a:t>
            </a:r>
            <a:endParaRPr lang="en-US" sz="2200" dirty="0"/>
          </a:p>
        </p:txBody>
      </p:sp>
      <p:sp>
        <p:nvSpPr>
          <p:cNvPr id="13" name="Text 10"/>
          <p:cNvSpPr txBox="1"/>
          <p:nvPr/>
        </p:nvSpPr>
        <p:spPr>
          <a:xfrm>
            <a:off x="8412480" y="5276088"/>
            <a:ext cx="3063240" cy="777240"/>
          </a:xfrm>
          <a:prstGeom prst="rect">
            <a:avLst/>
          </a:prstGeom>
          <a:noFill/>
          <a:ln/>
        </p:spPr>
        <p:txBody>
          <a:bodyPr wrap="square" lIns="0" tIns="0" rIns="0" bIns="0" rtlCol="0" anchor="t"/>
          <a:lstStyle/>
          <a:p>
            <a:pPr indent="0" marL="0">
              <a:buNone/>
            </a:pPr>
            <a:r>
              <a:rPr lang="en-US" sz="1200" dirty="0">
                <a:solidFill>
                  <a:srgbClr val="3C4043"/>
                </a:solidFill>
                <a:latin typeface="Calibri" pitchFamily="34" charset="0"/>
                <a:ea typeface="Calibri" pitchFamily="34" charset="-122"/>
                <a:cs typeface="Calibri" pitchFamily="34" charset="-120"/>
              </a:rPr>
              <a:t>The other four categories combined, excluding Electronics — Electronics accounts for the chain's −18% slide.</a:t>
            </a:r>
            <a:endParaRPr lang="en-US" sz="1200" dirty="0"/>
          </a:p>
        </p:txBody>
      </p:sp>
      <p:sp>
        <p:nvSpPr>
          <p:cNvPr id="14" name="Text 11"/>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Saalif Udyawar   ·   MUC01 · Category Intelligence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Mobile Phone fell 57% — the worst of 25 products</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Revenue change January → June by product. Every Electronics product fell; every Apparel product grew.</a:t>
            </a:r>
            <a:endParaRPr lang="en-US" sz="1500" dirty="0"/>
          </a:p>
        </p:txBody>
      </p:sp>
      <p:graphicFrame>
        <p:nvGraphicFramePr>
          <p:cNvPr id="4" name="Chart 0" descr=""/>
          <p:cNvGraphicFramePr/>
          <p:nvPr/>
        </p:nvGraphicFramePr>
        <p:xfrm>
          <a:off x="548640" y="1417320"/>
          <a:ext cx="7223760" cy="4983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554480"/>
            <a:ext cx="3520440" cy="2743200"/>
          </a:xfrm>
          <a:prstGeom prst="roundRect">
            <a:avLst>
              <a:gd name="adj" fmla="val 2667"/>
            </a:avLst>
          </a:prstGeom>
          <a:solidFill>
            <a:srgbClr val="F2F3F5"/>
          </a:solidFill>
          <a:ln w="12700">
            <a:solidFill>
              <a:srgbClr val="F2F3F5"/>
            </a:solidFill>
            <a:prstDash val="solid"/>
          </a:ln>
        </p:spPr>
      </p:sp>
      <p:sp>
        <p:nvSpPr>
          <p:cNvPr id="6" name="Text 3"/>
          <p:cNvSpPr txBox="1"/>
          <p:nvPr/>
        </p:nvSpPr>
        <p:spPr>
          <a:xfrm>
            <a:off x="8321040" y="1691640"/>
            <a:ext cx="3108960" cy="411480"/>
          </a:xfrm>
          <a:prstGeom prst="rect">
            <a:avLst/>
          </a:prstGeom>
          <a:noFill/>
          <a:ln/>
        </p:spPr>
        <p:txBody>
          <a:bodyPr wrap="square" lIns="0" tIns="0" rIns="0" bIns="0" rtlCol="0" anchor="ctr"/>
          <a:lstStyle/>
          <a:p>
            <a:pPr indent="0" marL="0">
              <a:buNone/>
            </a:pPr>
            <a:r>
              <a:rPr lang="en-US" sz="1800" b="1" dirty="0">
                <a:solidFill>
                  <a:srgbClr val="D03B3B"/>
                </a:solidFill>
                <a:latin typeface="Cambria" pitchFamily="34" charset="0"/>
                <a:ea typeface="Cambria" pitchFamily="34" charset="-122"/>
                <a:cs typeface="Cambria" pitchFamily="34" charset="-120"/>
              </a:rPr>
              <a:t>The hidden problem</a:t>
            </a:r>
            <a:endParaRPr lang="en-US" sz="1800" dirty="0"/>
          </a:p>
        </p:txBody>
      </p:sp>
      <p:sp>
        <p:nvSpPr>
          <p:cNvPr id="7" name="Text 4"/>
          <p:cNvSpPr txBox="1"/>
          <p:nvPr/>
        </p:nvSpPr>
        <p:spPr>
          <a:xfrm>
            <a:off x="8321040" y="2148840"/>
            <a:ext cx="3154680" cy="21031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C4043"/>
                </a:solidFill>
                <a:latin typeface="Calibri" pitchFamily="34" charset="0"/>
                <a:ea typeface="Calibri" pitchFamily="34" charset="-122"/>
                <a:cs typeface="Calibri" pitchFamily="34" charset="-120"/>
              </a:rPr>
              <a:t>Mobile Phone ranks 3rd of 5 by total revenue, so a top-2 / bottom-2 table misses it.</a:t>
            </a:r>
            <a:endParaRPr lang="en-US" sz="1250" dirty="0"/>
          </a:p>
          <a:p>
            <a:pPr marL="342900" indent="-342900">
              <a:spcAft>
                <a:spcPts val="400"/>
              </a:spcAft>
              <a:buSzPct val="100000"/>
              <a:buChar char="•"/>
            </a:pPr>
            <a:r>
              <a:rPr lang="en-US" sz="1250" dirty="0">
                <a:solidFill>
                  <a:srgbClr val="3C4043"/>
                </a:solidFill>
                <a:latin typeface="Calibri" pitchFamily="34" charset="0"/>
                <a:ea typeface="Calibri" pitchFamily="34" charset="-122"/>
                <a:cs typeface="Calibri" pitchFamily="34" charset="-120"/>
              </a:rPr>
              <a:t>₹98.0 L in January → ₹42.1 L in June; transactions roughly halved (177 → 87).</a:t>
            </a:r>
            <a:endParaRPr lang="en-US" sz="1250" dirty="0"/>
          </a:p>
          <a:p>
            <a:pPr marL="342900" indent="-342900">
              <a:spcAft>
                <a:spcPts val="400"/>
              </a:spcAft>
              <a:buSzPct val="100000"/>
              <a:buChar char="•"/>
            </a:pPr>
            <a:r>
              <a:rPr lang="en-US" sz="1250" dirty="0">
                <a:solidFill>
                  <a:srgbClr val="3C4043"/>
                </a:solidFill>
                <a:latin typeface="Calibri" pitchFamily="34" charset="0"/>
                <a:ea typeface="Calibri" pitchFamily="34" charset="-122"/>
                <a:cs typeface="Calibri" pitchFamily="34" charset="-120"/>
              </a:rPr>
              <a:t>Electronics fell in all 6 cities — not confined to one store.</a:t>
            </a:r>
            <a:endParaRPr lang="en-US" sz="1250" dirty="0"/>
          </a:p>
        </p:txBody>
      </p:sp>
      <p:sp>
        <p:nvSpPr>
          <p:cNvPr id="8" name="Shape 5"/>
          <p:cNvSpPr/>
          <p:nvPr/>
        </p:nvSpPr>
        <p:spPr>
          <a:xfrm>
            <a:off x="8092440" y="4480560"/>
            <a:ext cx="3520440" cy="1737360"/>
          </a:xfrm>
          <a:prstGeom prst="roundRect">
            <a:avLst>
              <a:gd name="adj" fmla="val 4211"/>
            </a:avLst>
          </a:prstGeom>
          <a:solidFill>
            <a:srgbClr val="F2F3F5"/>
          </a:solidFill>
          <a:ln w="12700">
            <a:solidFill>
              <a:srgbClr val="F2F3F5"/>
            </a:solidFill>
            <a:prstDash val="solid"/>
          </a:ln>
        </p:spPr>
      </p:sp>
      <p:sp>
        <p:nvSpPr>
          <p:cNvPr id="9" name="Text 6"/>
          <p:cNvSpPr txBox="1"/>
          <p:nvPr/>
        </p:nvSpPr>
        <p:spPr>
          <a:xfrm>
            <a:off x="8321040" y="4590288"/>
            <a:ext cx="3108960" cy="36576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Top &amp; bottom by total</a:t>
            </a:r>
            <a:endParaRPr lang="en-US" sz="1500" dirty="0"/>
          </a:p>
        </p:txBody>
      </p:sp>
      <p:sp>
        <p:nvSpPr>
          <p:cNvPr id="10" name="Text 7"/>
          <p:cNvSpPr txBox="1"/>
          <p:nvPr/>
        </p:nvSpPr>
        <p:spPr>
          <a:xfrm>
            <a:off x="8321040" y="4956048"/>
            <a:ext cx="3154680" cy="1188720"/>
          </a:xfrm>
          <a:prstGeom prst="rect">
            <a:avLst/>
          </a:prstGeom>
          <a:noFill/>
          <a:ln/>
        </p:spPr>
        <p:txBody>
          <a:bodyPr wrap="square" lIns="0" tIns="0" rIns="0" bIns="0" rtlCol="0" anchor="t"/>
          <a:lstStyle/>
          <a:p>
            <a:pPr indent="0" marL="0">
              <a:buNone/>
            </a:pPr>
            <a:r>
              <a:rPr lang="en-US" sz="1200" dirty="0">
                <a:solidFill>
                  <a:srgbClr val="3C4043"/>
                </a:solidFill>
                <a:latin typeface="Calibri" pitchFamily="34" charset="0"/>
                <a:ea typeface="Calibri" pitchFamily="34" charset="-122"/>
                <a:cs typeface="Calibri" pitchFamily="34" charset="-120"/>
              </a:rPr>
              <a:t>Inside each category the five products earn almost the same (Grocery best vs worst: 2% apart). Direction matters more than the total.</a:t>
            </a:r>
            <a:endParaRPr lang="en-US" sz="1200" dirty="0"/>
          </a:p>
        </p:txBody>
      </p:sp>
      <p:sp>
        <p:nvSpPr>
          <p:cNvPr id="11" name="Text 8"/>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Saalif Udyawar   ·   MUC01 · Category Intelligence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Saturday brings in 75% more revenue than Monday</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Average chain revenue per day (₹ Lakh) — weekends carry the week</a:t>
            </a:r>
            <a:endParaRPr lang="en-US" sz="1500" dirty="0"/>
          </a:p>
        </p:txBody>
      </p:sp>
      <p:graphicFrame>
        <p:nvGraphicFramePr>
          <p:cNvPr id="4" name="Chart 0" descr=""/>
          <p:cNvGraphicFramePr/>
          <p:nvPr/>
        </p:nvGraphicFramePr>
        <p:xfrm>
          <a:off x="548640" y="146304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600200"/>
            <a:ext cx="3931920" cy="2148840"/>
          </a:xfrm>
          <a:prstGeom prst="roundRect">
            <a:avLst>
              <a:gd name="adj" fmla="val 3404"/>
            </a:avLst>
          </a:prstGeom>
          <a:solidFill>
            <a:srgbClr val="F2F3F5"/>
          </a:solidFill>
          <a:ln w="12700">
            <a:solidFill>
              <a:srgbClr val="F2F3F5"/>
            </a:solidFill>
            <a:prstDash val="solid"/>
          </a:ln>
        </p:spPr>
      </p:sp>
      <p:sp>
        <p:nvSpPr>
          <p:cNvPr id="6" name="Text 3"/>
          <p:cNvSpPr txBox="1"/>
          <p:nvPr/>
        </p:nvSpPr>
        <p:spPr>
          <a:xfrm>
            <a:off x="7909560" y="1719072"/>
            <a:ext cx="3566160" cy="365760"/>
          </a:xfrm>
          <a:prstGeom prst="rect">
            <a:avLst/>
          </a:prstGeom>
          <a:noFill/>
          <a:ln/>
        </p:spPr>
        <p:txBody>
          <a:bodyPr wrap="square" lIns="0" tIns="0" rIns="0" bIns="0" rtlCol="0" anchor="ctr"/>
          <a:lstStyle/>
          <a:p>
            <a:pPr indent="0" marL="0">
              <a:buNone/>
            </a:pPr>
            <a:r>
              <a:rPr lang="en-US" sz="1700" b="1" dirty="0">
                <a:solidFill>
                  <a:srgbClr val="1F2328"/>
                </a:solidFill>
                <a:latin typeface="Cambria" pitchFamily="34" charset="0"/>
                <a:ea typeface="Cambria" pitchFamily="34" charset="-122"/>
                <a:cs typeface="Cambria" pitchFamily="34" charset="-120"/>
              </a:rPr>
              <a:t>Chain vs Apparel</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909560" y="2130552"/>
          <a:ext cx="3520440" cy="914400"/>
        </p:xfrm>
        <a:graphic>
          <a:graphicData uri="http://schemas.openxmlformats.org/drawingml/2006/table">
            <a:tbl>
              <a:tblPr/>
              <a:tblGrid>
                <a:gridCol w="1234440"/>
                <a:gridCol w="1097280"/>
                <a:gridCol w="1188720"/>
              </a:tblGrid>
              <a:tr h="274320">
                <a:tc>
                  <a:txBody>
                    <a:bodyPr/>
                    <a:lstStyle/>
                    <a:p>
                      <a:pPr indent="0" marL="0">
                        <a:buNone/>
                      </a:pP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b="1" dirty="0">
                          <a:solidFill>
                            <a:srgbClr val="3C4043"/>
                          </a:solidFill>
                          <a:latin typeface="Calibri" pitchFamily="34" charset="0"/>
                          <a:ea typeface="Calibri" pitchFamily="34" charset="-122"/>
                          <a:cs typeface="Calibri" pitchFamily="34" charset="-120"/>
                        </a:rPr>
                        <a:t>Chain</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Apparel</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Best day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Saturday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Saturday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Worst day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Monday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Monday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Best month</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January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June</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Worst month</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3C4043"/>
                          </a:solidFill>
                          <a:latin typeface="Calibri" pitchFamily="34" charset="0"/>
                          <a:ea typeface="Calibri" pitchFamily="34" charset="-122"/>
                          <a:cs typeface="Calibri" pitchFamily="34" charset="-120"/>
                        </a:rPr>
                        <a:t>June</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February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
        <p:nvSpPr>
          <p:cNvPr id="8" name="Shape 4"/>
          <p:cNvSpPr/>
          <p:nvPr/>
        </p:nvSpPr>
        <p:spPr>
          <a:xfrm>
            <a:off x="7680960" y="3931920"/>
            <a:ext cx="3931920" cy="2286000"/>
          </a:xfrm>
          <a:prstGeom prst="roundRect">
            <a:avLst>
              <a:gd name="adj" fmla="val 3200"/>
            </a:avLst>
          </a:prstGeom>
          <a:solidFill>
            <a:srgbClr val="F2F3F5"/>
          </a:solidFill>
          <a:ln w="12700">
            <a:solidFill>
              <a:srgbClr val="F2F3F5"/>
            </a:solidFill>
            <a:prstDash val="solid"/>
          </a:ln>
        </p:spPr>
      </p:sp>
      <p:sp>
        <p:nvSpPr>
          <p:cNvPr id="9" name="Text 5"/>
          <p:cNvSpPr txBox="1"/>
          <p:nvPr/>
        </p:nvSpPr>
        <p:spPr>
          <a:xfrm>
            <a:off x="7909560" y="4041648"/>
            <a:ext cx="3566160" cy="365760"/>
          </a:xfrm>
          <a:prstGeom prst="rect">
            <a:avLst/>
          </a:prstGeom>
          <a:noFill/>
          <a:ln/>
        </p:spPr>
        <p:txBody>
          <a:bodyPr wrap="square" lIns="0" tIns="0" rIns="0" bIns="0" rtlCol="0" anchor="ctr"/>
          <a:lstStyle/>
          <a:p>
            <a:pPr indent="0" marL="0">
              <a:buNone/>
            </a:pPr>
            <a:r>
              <a:rPr lang="en-US" sz="1600" b="1" dirty="0">
                <a:solidFill>
                  <a:srgbClr val="1F2328"/>
                </a:solidFill>
                <a:latin typeface="Cambria" pitchFamily="34" charset="0"/>
                <a:ea typeface="Cambria" pitchFamily="34" charset="-122"/>
                <a:cs typeface="Cambria" pitchFamily="34" charset="-120"/>
              </a:rPr>
              <a:t>What it means for promotions</a:t>
            </a:r>
            <a:endParaRPr lang="en-US" sz="1600" dirty="0"/>
          </a:p>
        </p:txBody>
      </p:sp>
      <p:sp>
        <p:nvSpPr>
          <p:cNvPr id="10" name="Text 6"/>
          <p:cNvSpPr txBox="1"/>
          <p:nvPr/>
        </p:nvSpPr>
        <p:spPr>
          <a:xfrm>
            <a:off x="7909560" y="4434840"/>
            <a:ext cx="356616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C4043"/>
                </a:solidFill>
                <a:latin typeface="Calibri" pitchFamily="34" charset="0"/>
                <a:ea typeface="Calibri" pitchFamily="34" charset="-122"/>
                <a:cs typeface="Calibri" pitchFamily="34" charset="-120"/>
              </a:rPr>
              <a:t>Strong weekend sales suggest testing Monday–Thursday promotions; their added impact is unmeasured.</a:t>
            </a:r>
            <a:endParaRPr lang="en-US" sz="1200" dirty="0"/>
          </a:p>
          <a:p>
            <a:pPr marL="342900" indent="-342900">
              <a:spcAft>
                <a:spcPts val="400"/>
              </a:spcAft>
              <a:buSzPct val="100000"/>
              <a:buChar char="•"/>
            </a:pPr>
            <a:r>
              <a:rPr lang="en-US" sz="1200" dirty="0">
                <a:solidFill>
                  <a:srgbClr val="3C4043"/>
                </a:solidFill>
                <a:latin typeface="Calibri" pitchFamily="34" charset="0"/>
                <a:ea typeface="Calibri" pitchFamily="34" charset="-122"/>
                <a:cs typeface="Calibri" pitchFamily="34" charset="-120"/>
              </a:rPr>
              <a:t>Apparel grows overall despite a February dip (+34% vs chain −18%): prioritise stock over deeper discounts.</a:t>
            </a:r>
            <a:endParaRPr lang="en-US" sz="1200" dirty="0"/>
          </a:p>
          <a:p>
            <a:pPr marL="342900" indent="-342900">
              <a:spcAft>
                <a:spcPts val="400"/>
              </a:spcAft>
              <a:buSzPct val="100000"/>
              <a:buChar char="•"/>
            </a:pPr>
            <a:r>
              <a:rPr lang="en-US" sz="1200" dirty="0">
                <a:solidFill>
                  <a:srgbClr val="3C4043"/>
                </a:solidFill>
                <a:latin typeface="Calibri" pitchFamily="34" charset="0"/>
                <a:ea typeface="Calibri" pitchFamily="34" charset="-122"/>
                <a:cs typeface="Calibri" pitchFamily="34" charset="-120"/>
              </a:rPr>
              <a:t>Electronics: investigate range, availability and pricing — timing alone is unlikely to fix it.</a:t>
            </a:r>
            <a:endParaRPr lang="en-US" sz="1200" dirty="0"/>
          </a:p>
        </p:txBody>
      </p:sp>
      <p:sp>
        <p:nvSpPr>
          <p:cNvPr id="11" name="Text 7"/>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Jakkana Hasini   ·   MUC01 · Category Intelligence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Higher discounts: lower revenue, similar units</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Revenue per transaction is generally lower at higher discounts (no transactions above 20%)</a:t>
            </a:r>
            <a:endParaRPr lang="en-US" sz="1500" dirty="0"/>
          </a:p>
        </p:txBody>
      </p:sp>
      <p:graphicFrame>
        <p:nvGraphicFramePr>
          <p:cNvPr id="4" name="Chart 0" descr=""/>
          <p:cNvGraphicFramePr/>
          <p:nvPr/>
        </p:nvGraphicFramePr>
        <p:xfrm>
          <a:off x="548640" y="146304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600200"/>
            <a:ext cx="3931920" cy="1325880"/>
          </a:xfrm>
          <a:prstGeom prst="roundRect">
            <a:avLst>
              <a:gd name="adj" fmla="val 5517"/>
            </a:avLst>
          </a:prstGeom>
          <a:solidFill>
            <a:srgbClr val="F2F3F5"/>
          </a:solidFill>
          <a:ln w="12700">
            <a:solidFill>
              <a:srgbClr val="F2F3F5"/>
            </a:solidFill>
            <a:prstDash val="solid"/>
          </a:ln>
        </p:spPr>
      </p:sp>
      <p:sp>
        <p:nvSpPr>
          <p:cNvPr id="6" name="Text 3"/>
          <p:cNvSpPr txBox="1"/>
          <p:nvPr/>
        </p:nvSpPr>
        <p:spPr>
          <a:xfrm>
            <a:off x="7909560" y="1709928"/>
            <a:ext cx="3566160" cy="502920"/>
          </a:xfrm>
          <a:prstGeom prst="rect">
            <a:avLst/>
          </a:prstGeom>
          <a:noFill/>
          <a:ln/>
        </p:spPr>
        <p:txBody>
          <a:bodyPr wrap="square" lIns="0" tIns="0" rIns="0" bIns="0" rtlCol="0" anchor="ctr"/>
          <a:lstStyle/>
          <a:p>
            <a:pPr indent="0" marL="0">
              <a:buNone/>
            </a:pPr>
            <a:r>
              <a:rPr lang="en-US" sz="2800" b="1" dirty="0">
                <a:solidFill>
                  <a:srgbClr val="1F2328"/>
                </a:solidFill>
                <a:latin typeface="Cambria" pitchFamily="34" charset="0"/>
                <a:ea typeface="Cambria" pitchFamily="34" charset="-122"/>
                <a:cs typeface="Cambria" pitchFamily="34" charset="-120"/>
              </a:rPr>
              <a:t>≈ 2.6</a:t>
            </a:r>
            <a:endParaRPr lang="en-US" sz="2800" dirty="0"/>
          </a:p>
        </p:txBody>
      </p:sp>
      <p:sp>
        <p:nvSpPr>
          <p:cNvPr id="7" name="Text 4"/>
          <p:cNvSpPr txBox="1"/>
          <p:nvPr/>
        </p:nvSpPr>
        <p:spPr>
          <a:xfrm>
            <a:off x="7909560" y="2221992"/>
            <a:ext cx="3566160" cy="685800"/>
          </a:xfrm>
          <a:prstGeom prst="rect">
            <a:avLst/>
          </a:prstGeom>
          <a:noFill/>
          <a:ln/>
        </p:spPr>
        <p:txBody>
          <a:bodyPr wrap="square" lIns="0" tIns="0" rIns="0" bIns="0" rtlCol="0" anchor="t"/>
          <a:lstStyle/>
          <a:p>
            <a:pPr indent="0" marL="0">
              <a:buNone/>
            </a:pPr>
            <a:r>
              <a:rPr lang="en-US" sz="1250" dirty="0">
                <a:solidFill>
                  <a:srgbClr val="3C4043"/>
                </a:solidFill>
                <a:latin typeface="Calibri" pitchFamily="34" charset="0"/>
                <a:ea typeface="Calibri" pitchFamily="34" charset="-122"/>
                <a:cs typeface="Calibri" pitchFamily="34" charset="-120"/>
              </a:rPr>
              <a:t>units per transaction at every discount level — 2.59 at full price, 2.58 at 20% off</a:t>
            </a:r>
            <a:endParaRPr lang="en-US" sz="1250" dirty="0"/>
          </a:p>
        </p:txBody>
      </p:sp>
      <p:sp>
        <p:nvSpPr>
          <p:cNvPr id="8" name="Shape 5"/>
          <p:cNvSpPr/>
          <p:nvPr/>
        </p:nvSpPr>
        <p:spPr>
          <a:xfrm>
            <a:off x="7680960" y="3081528"/>
            <a:ext cx="3931920" cy="1325880"/>
          </a:xfrm>
          <a:prstGeom prst="roundRect">
            <a:avLst>
              <a:gd name="adj" fmla="val 5517"/>
            </a:avLst>
          </a:prstGeom>
          <a:solidFill>
            <a:srgbClr val="F2F3F5"/>
          </a:solidFill>
          <a:ln w="12700">
            <a:solidFill>
              <a:srgbClr val="F2F3F5"/>
            </a:solidFill>
            <a:prstDash val="solid"/>
          </a:ln>
        </p:spPr>
      </p:sp>
      <p:sp>
        <p:nvSpPr>
          <p:cNvPr id="9" name="Text 6"/>
          <p:cNvSpPr txBox="1"/>
          <p:nvPr/>
        </p:nvSpPr>
        <p:spPr>
          <a:xfrm>
            <a:off x="7909560" y="3191256"/>
            <a:ext cx="3566160" cy="502920"/>
          </a:xfrm>
          <a:prstGeom prst="rect">
            <a:avLst/>
          </a:prstGeom>
          <a:noFill/>
          <a:ln/>
        </p:spPr>
        <p:txBody>
          <a:bodyPr wrap="square" lIns="0" tIns="0" rIns="0" bIns="0" rtlCol="0" anchor="ctr"/>
          <a:lstStyle/>
          <a:p>
            <a:pPr indent="0" marL="0">
              <a:buNone/>
            </a:pPr>
            <a:r>
              <a:rPr lang="en-US" sz="2800" b="1" dirty="0">
                <a:solidFill>
                  <a:srgbClr val="D03B3B"/>
                </a:solidFill>
                <a:latin typeface="Cambria" pitchFamily="34" charset="0"/>
                <a:ea typeface="Cambria" pitchFamily="34" charset="-122"/>
                <a:cs typeface="Cambria" pitchFamily="34" charset="-120"/>
              </a:rPr>
              <a:t>−22%</a:t>
            </a:r>
            <a:endParaRPr lang="en-US" sz="2800" dirty="0"/>
          </a:p>
        </p:txBody>
      </p:sp>
      <p:sp>
        <p:nvSpPr>
          <p:cNvPr id="10" name="Text 7"/>
          <p:cNvSpPr txBox="1"/>
          <p:nvPr/>
        </p:nvSpPr>
        <p:spPr>
          <a:xfrm>
            <a:off x="7909560" y="3703320"/>
            <a:ext cx="3566160" cy="685800"/>
          </a:xfrm>
          <a:prstGeom prst="rect">
            <a:avLst/>
          </a:prstGeom>
          <a:noFill/>
          <a:ln/>
        </p:spPr>
        <p:txBody>
          <a:bodyPr wrap="square" lIns="0" tIns="0" rIns="0" bIns="0" rtlCol="0" anchor="t"/>
          <a:lstStyle/>
          <a:p>
            <a:pPr indent="0" marL="0">
              <a:buNone/>
            </a:pPr>
            <a:r>
              <a:rPr lang="en-US" sz="1250" dirty="0">
                <a:solidFill>
                  <a:srgbClr val="3C4043"/>
                </a:solidFill>
                <a:latin typeface="Calibri" pitchFamily="34" charset="0"/>
                <a:ea typeface="Calibri" pitchFamily="34" charset="-122"/>
                <a:cs typeface="Calibri" pitchFamily="34" charset="-120"/>
              </a:rPr>
              <a:t>revenue per transaction at 20% off (₹3,632 vs ₹4,686); similar pattern within every category</a:t>
            </a:r>
            <a:endParaRPr lang="en-US" sz="1250" dirty="0"/>
          </a:p>
        </p:txBody>
      </p:sp>
      <p:sp>
        <p:nvSpPr>
          <p:cNvPr id="11" name="Shape 8"/>
          <p:cNvSpPr/>
          <p:nvPr/>
        </p:nvSpPr>
        <p:spPr>
          <a:xfrm>
            <a:off x="7680960" y="4562856"/>
            <a:ext cx="3931920" cy="1325880"/>
          </a:xfrm>
          <a:prstGeom prst="roundRect">
            <a:avLst>
              <a:gd name="adj" fmla="val 5517"/>
            </a:avLst>
          </a:prstGeom>
          <a:solidFill>
            <a:srgbClr val="F2F3F5"/>
          </a:solidFill>
          <a:ln w="12700">
            <a:solidFill>
              <a:srgbClr val="F2F3F5"/>
            </a:solidFill>
            <a:prstDash val="solid"/>
          </a:ln>
        </p:spPr>
      </p:sp>
      <p:sp>
        <p:nvSpPr>
          <p:cNvPr id="12" name="Text 9"/>
          <p:cNvSpPr txBox="1"/>
          <p:nvPr/>
        </p:nvSpPr>
        <p:spPr>
          <a:xfrm>
            <a:off x="7909560" y="4672584"/>
            <a:ext cx="3566160" cy="502920"/>
          </a:xfrm>
          <a:prstGeom prst="rect">
            <a:avLst/>
          </a:prstGeom>
          <a:noFill/>
          <a:ln/>
        </p:spPr>
        <p:txBody>
          <a:bodyPr wrap="square" lIns="0" tIns="0" rIns="0" bIns="0" rtlCol="0" anchor="ctr"/>
          <a:lstStyle/>
          <a:p>
            <a:pPr indent="0" marL="0">
              <a:buNone/>
            </a:pPr>
            <a:r>
              <a:rPr lang="en-US" sz="2800" b="1" dirty="0">
                <a:solidFill>
                  <a:srgbClr val="D03B3B"/>
                </a:solidFill>
                <a:latin typeface="Cambria" pitchFamily="34" charset="0"/>
                <a:ea typeface="Cambria" pitchFamily="34" charset="-122"/>
                <a:cs typeface="Cambria" pitchFamily="34" charset="-120"/>
              </a:rPr>
              <a:t>₹3.56 Cr</a:t>
            </a:r>
            <a:endParaRPr lang="en-US" sz="2800" dirty="0"/>
          </a:p>
        </p:txBody>
      </p:sp>
      <p:sp>
        <p:nvSpPr>
          <p:cNvPr id="13" name="Text 10"/>
          <p:cNvSpPr txBox="1"/>
          <p:nvPr/>
        </p:nvSpPr>
        <p:spPr>
          <a:xfrm>
            <a:off x="7909560" y="5184648"/>
            <a:ext cx="3566160" cy="685800"/>
          </a:xfrm>
          <a:prstGeom prst="rect">
            <a:avLst/>
          </a:prstGeom>
          <a:noFill/>
          <a:ln/>
        </p:spPr>
        <p:txBody>
          <a:bodyPr wrap="square" lIns="0" tIns="0" rIns="0" bIns="0" rtlCol="0" anchor="t"/>
          <a:lstStyle/>
          <a:p>
            <a:pPr indent="0" marL="0">
              <a:buNone/>
            </a:pPr>
            <a:r>
              <a:rPr lang="en-US" sz="1250" dirty="0">
                <a:solidFill>
                  <a:srgbClr val="3C4043"/>
                </a:solidFill>
                <a:latin typeface="Calibri" pitchFamily="34" charset="0"/>
                <a:ea typeface="Calibri" pitchFamily="34" charset="-122"/>
                <a:cs typeface="Calibri" pitchFamily="34" charset="-120"/>
              </a:rPr>
              <a:t>of discounts recorded in six months — ₹1.76 Cr of it on Electronics</a:t>
            </a:r>
            <a:endParaRPr lang="en-US" sz="1250" dirty="0"/>
          </a:p>
        </p:txBody>
      </p:sp>
      <p:sp>
        <p:nvSpPr>
          <p:cNvPr id="14" name="Text 11"/>
          <p:cNvSpPr txBox="1"/>
          <p:nvPr/>
        </p:nvSpPr>
        <p:spPr>
          <a:xfrm>
            <a:off x="7680960" y="6053328"/>
            <a:ext cx="3931920" cy="365760"/>
          </a:xfrm>
          <a:prstGeom prst="rect">
            <a:avLst/>
          </a:prstGeom>
          <a:noFill/>
          <a:ln/>
        </p:spPr>
        <p:txBody>
          <a:bodyPr wrap="square" lIns="0" tIns="0" rIns="0" bIns="0" rtlCol="0" anchor="ctr"/>
          <a:lstStyle/>
          <a:p>
            <a:pPr indent="0" marL="0">
              <a:buNone/>
            </a:pPr>
            <a:r>
              <a:rPr lang="en-US" sz="1100" b="1" i="1" dirty="0">
                <a:solidFill>
                  <a:srgbClr val="1F2328"/>
                </a:solidFill>
                <a:latin typeface="Calibri" pitchFamily="34" charset="0"/>
                <a:ea typeface="Calibri" pitchFamily="34" charset="-122"/>
                <a:cs typeface="Calibri" pitchFamily="34" charset="-120"/>
              </a:rPr>
              <a:t>Supports challenging deeper discounts; effect on total demand and profit is not established.</a:t>
            </a:r>
            <a:endParaRPr lang="en-US" sz="1100" dirty="0"/>
          </a:p>
        </p:txBody>
      </p:sp>
      <p:sp>
        <p:nvSpPr>
          <p:cNvPr id="15" name="Text 12"/>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Mutee Ruknuddin   ·   MUC01 · Category Intelligence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F2328"/>
                </a:solidFill>
                <a:latin typeface="Cambria" pitchFamily="34" charset="0"/>
                <a:ea typeface="Cambria" pitchFamily="34" charset="-122"/>
                <a:cs typeface="Cambria" pitchFamily="34" charset="-120"/>
              </a:rPr>
              <a:t>Our recommendation, category by category</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dirty="0">
                <a:solidFill>
                  <a:srgbClr val="5F6368"/>
                </a:solidFill>
                <a:latin typeface="Calibri" pitchFamily="34" charset="0"/>
                <a:ea typeface="Calibri" pitchFamily="34" charset="-122"/>
                <a:cs typeface="Calibri" pitchFamily="34" charset="-120"/>
              </a:rPr>
              <a:t>Based on revenue and units — profit to be confirmed with margin data; the rules on the right are proposals to test</a:t>
            </a:r>
            <a:endParaRPr lang="en-US" sz="1500" dirty="0"/>
          </a:p>
        </p:txBody>
      </p:sp>
      <p:sp>
        <p:nvSpPr>
          <p:cNvPr id="4" name="Shape 2"/>
          <p:cNvSpPr/>
          <p:nvPr/>
        </p:nvSpPr>
        <p:spPr>
          <a:xfrm>
            <a:off x="548640" y="1508760"/>
            <a:ext cx="7315200" cy="731520"/>
          </a:xfrm>
          <a:prstGeom prst="roundRect">
            <a:avLst>
              <a:gd name="adj" fmla="val 10000"/>
            </a:avLst>
          </a:prstGeom>
          <a:solidFill>
            <a:srgbClr val="F2F3F5"/>
          </a:solidFill>
          <a:ln w="12700">
            <a:solidFill>
              <a:srgbClr val="F2F3F5"/>
            </a:solidFill>
            <a:prstDash val="solid"/>
          </a:ln>
        </p:spPr>
      </p:sp>
      <p:sp>
        <p:nvSpPr>
          <p:cNvPr id="5" name="Shape 3"/>
          <p:cNvSpPr/>
          <p:nvPr/>
        </p:nvSpPr>
        <p:spPr>
          <a:xfrm>
            <a:off x="713232" y="1600200"/>
            <a:ext cx="548640" cy="548640"/>
          </a:xfrm>
          <a:prstGeom prst="ellipse">
            <a:avLst/>
          </a:prstGeom>
          <a:solidFill>
            <a:srgbClr val="2A78D6"/>
          </a:solidFill>
          <a:ln w="12700">
            <a:solidFill>
              <a:srgbClr val="2A78D6"/>
            </a:solidFill>
            <a:prstDash val="solid"/>
          </a:ln>
        </p:spPr>
      </p:sp>
      <p:pic>
        <p:nvPicPr>
          <p:cNvPr id="6" name="Image 0" descr="preencoded.png">    </p:cNvPr>
          <p:cNvPicPr>
            <a:picLocks noChangeAspect="1"/>
          </p:cNvPicPr>
          <p:nvPr/>
        </p:nvPicPr>
        <p:blipFill>
          <a:blip r:embed="rId1"/>
          <a:stretch>
            <a:fillRect/>
          </a:stretch>
        </p:blipFill>
        <p:spPr>
          <a:xfrm>
            <a:off x="850392" y="1737360"/>
            <a:ext cx="274320" cy="274320"/>
          </a:xfrm>
          <a:prstGeom prst="rect">
            <a:avLst/>
          </a:prstGeom>
        </p:spPr>
      </p:pic>
      <p:sp>
        <p:nvSpPr>
          <p:cNvPr id="7" name="Text 4"/>
          <p:cNvSpPr txBox="1"/>
          <p:nvPr/>
        </p:nvSpPr>
        <p:spPr>
          <a:xfrm>
            <a:off x="1417320" y="1600200"/>
            <a:ext cx="1371600" cy="274320"/>
          </a:xfrm>
          <a:prstGeom prst="rect">
            <a:avLst/>
          </a:prstGeom>
          <a:noFill/>
          <a:ln/>
        </p:spPr>
        <p:txBody>
          <a:bodyPr wrap="square" lIns="0" tIns="0" rIns="0" bIns="0" rtlCol="0" anchor="ctr"/>
          <a:lstStyle/>
          <a:p>
            <a:pPr indent="0" marL="0">
              <a:buNone/>
            </a:pPr>
            <a:r>
              <a:rPr lang="en-US" sz="1200" b="1" dirty="0">
                <a:solidFill>
                  <a:srgbClr val="2A78D6"/>
                </a:solidFill>
                <a:latin typeface="Calibri" pitchFamily="34" charset="0"/>
                <a:ea typeface="Calibri" pitchFamily="34" charset="-122"/>
                <a:cs typeface="Calibri" pitchFamily="34" charset="-120"/>
              </a:rPr>
              <a:t>INVEST</a:t>
            </a:r>
            <a:endParaRPr lang="en-US" sz="1200" dirty="0"/>
          </a:p>
        </p:txBody>
      </p:sp>
      <p:sp>
        <p:nvSpPr>
          <p:cNvPr id="8" name="Text 5"/>
          <p:cNvSpPr txBox="1"/>
          <p:nvPr/>
        </p:nvSpPr>
        <p:spPr>
          <a:xfrm>
            <a:off x="1417320" y="1856232"/>
            <a:ext cx="1737360"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Apparel</a:t>
            </a:r>
            <a:endParaRPr lang="en-US" sz="1500" dirty="0"/>
          </a:p>
        </p:txBody>
      </p:sp>
      <p:sp>
        <p:nvSpPr>
          <p:cNvPr id="9" name="Text 6"/>
          <p:cNvSpPr txBox="1"/>
          <p:nvPr/>
        </p:nvSpPr>
        <p:spPr>
          <a:xfrm>
            <a:off x="3154680" y="1600200"/>
            <a:ext cx="155448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₹6.95 Cr · +34%</a:t>
            </a:r>
            <a:endParaRPr lang="en-US" sz="1200" dirty="0"/>
          </a:p>
        </p:txBody>
      </p:sp>
      <p:sp>
        <p:nvSpPr>
          <p:cNvPr id="10" name="Text 7"/>
          <p:cNvSpPr txBox="1"/>
          <p:nvPr/>
        </p:nvSpPr>
        <p:spPr>
          <a:xfrm>
            <a:off x="4709160" y="1563624"/>
            <a:ext cx="3063240" cy="621792"/>
          </a:xfrm>
          <a:prstGeom prst="rect">
            <a:avLst/>
          </a:prstGeom>
          <a:noFill/>
          <a:ln/>
        </p:spPr>
        <p:txBody>
          <a:bodyPr wrap="square" lIns="0" tIns="0" rIns="0" bIns="0" rtlCol="0" anchor="ctr"/>
          <a:lstStyle/>
          <a:p>
            <a:pPr indent="0" marL="0">
              <a:buNone/>
            </a:pPr>
            <a:r>
              <a:rPr lang="en-US" sz="1100" dirty="0">
                <a:solidFill>
                  <a:srgbClr val="3C4043"/>
                </a:solidFill>
                <a:latin typeface="Calibri" pitchFamily="34" charset="0"/>
                <a:ea typeface="Calibri" pitchFamily="34" charset="-122"/>
                <a:cs typeface="Calibri" pitchFamily="34" charset="-120"/>
              </a:rPr>
              <a:t>More shelf space and stock depth — Jeans (+32% Q2 vs Q1) and T-Shirt (+30%) first.</a:t>
            </a:r>
            <a:endParaRPr lang="en-US" sz="1100" dirty="0"/>
          </a:p>
        </p:txBody>
      </p:sp>
      <p:sp>
        <p:nvSpPr>
          <p:cNvPr id="11" name="Shape 8"/>
          <p:cNvSpPr/>
          <p:nvPr/>
        </p:nvSpPr>
        <p:spPr>
          <a:xfrm>
            <a:off x="548640" y="2359152"/>
            <a:ext cx="7315200" cy="731520"/>
          </a:xfrm>
          <a:prstGeom prst="roundRect">
            <a:avLst>
              <a:gd name="adj" fmla="val 10000"/>
            </a:avLst>
          </a:prstGeom>
          <a:solidFill>
            <a:srgbClr val="F2F3F5"/>
          </a:solidFill>
          <a:ln w="12700">
            <a:solidFill>
              <a:srgbClr val="F2F3F5"/>
            </a:solidFill>
            <a:prstDash val="solid"/>
          </a:ln>
        </p:spPr>
      </p:sp>
      <p:sp>
        <p:nvSpPr>
          <p:cNvPr id="12" name="Shape 9"/>
          <p:cNvSpPr/>
          <p:nvPr/>
        </p:nvSpPr>
        <p:spPr>
          <a:xfrm>
            <a:off x="713232" y="2450592"/>
            <a:ext cx="548640" cy="548640"/>
          </a:xfrm>
          <a:prstGeom prst="ellipse">
            <a:avLst/>
          </a:prstGeom>
          <a:solidFill>
            <a:srgbClr val="D03B3B"/>
          </a:solidFill>
          <a:ln w="12700">
            <a:solidFill>
              <a:srgbClr val="D03B3B"/>
            </a:solidFill>
            <a:prstDash val="solid"/>
          </a:ln>
        </p:spPr>
      </p:sp>
      <p:pic>
        <p:nvPicPr>
          <p:cNvPr id="13" name="Image 1" descr="preencoded.png">    </p:cNvPr>
          <p:cNvPicPr>
            <a:picLocks noChangeAspect="1"/>
          </p:cNvPicPr>
          <p:nvPr/>
        </p:nvPicPr>
        <p:blipFill>
          <a:blip r:embed="rId2"/>
          <a:stretch>
            <a:fillRect/>
          </a:stretch>
        </p:blipFill>
        <p:spPr>
          <a:xfrm>
            <a:off x="850392" y="2587752"/>
            <a:ext cx="274320" cy="274320"/>
          </a:xfrm>
          <a:prstGeom prst="rect">
            <a:avLst/>
          </a:prstGeom>
        </p:spPr>
      </p:pic>
      <p:sp>
        <p:nvSpPr>
          <p:cNvPr id="14" name="Text 10"/>
          <p:cNvSpPr txBox="1"/>
          <p:nvPr/>
        </p:nvSpPr>
        <p:spPr>
          <a:xfrm>
            <a:off x="1417320" y="2450592"/>
            <a:ext cx="1371600" cy="274320"/>
          </a:xfrm>
          <a:prstGeom prst="rect">
            <a:avLst/>
          </a:prstGeom>
          <a:noFill/>
          <a:ln/>
        </p:spPr>
        <p:txBody>
          <a:bodyPr wrap="square" lIns="0" tIns="0" rIns="0" bIns="0" rtlCol="0" anchor="ctr"/>
          <a:lstStyle/>
          <a:p>
            <a:pPr indent="0" marL="0">
              <a:buNone/>
            </a:pPr>
            <a:r>
              <a:rPr lang="en-US" sz="1200" b="1" dirty="0">
                <a:solidFill>
                  <a:srgbClr val="D03B3B"/>
                </a:solidFill>
                <a:latin typeface="Calibri" pitchFamily="34" charset="0"/>
                <a:ea typeface="Calibri" pitchFamily="34" charset="-122"/>
                <a:cs typeface="Calibri" pitchFamily="34" charset="-120"/>
              </a:rPr>
              <a:t>CHALLENGE</a:t>
            </a:r>
            <a:endParaRPr lang="en-US" sz="1200" dirty="0"/>
          </a:p>
        </p:txBody>
      </p:sp>
      <p:sp>
        <p:nvSpPr>
          <p:cNvPr id="15" name="Text 11"/>
          <p:cNvSpPr txBox="1"/>
          <p:nvPr/>
        </p:nvSpPr>
        <p:spPr>
          <a:xfrm>
            <a:off x="1417320" y="2706624"/>
            <a:ext cx="1737360"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Electronics</a:t>
            </a:r>
            <a:endParaRPr lang="en-US" sz="1500" dirty="0"/>
          </a:p>
        </p:txBody>
      </p:sp>
      <p:sp>
        <p:nvSpPr>
          <p:cNvPr id="16" name="Text 12"/>
          <p:cNvSpPr txBox="1"/>
          <p:nvPr/>
        </p:nvSpPr>
        <p:spPr>
          <a:xfrm>
            <a:off x="3154680" y="2450592"/>
            <a:ext cx="155448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₹22.65 Cr · −35%</a:t>
            </a:r>
            <a:endParaRPr lang="en-US" sz="1200" dirty="0"/>
          </a:p>
        </p:txBody>
      </p:sp>
      <p:sp>
        <p:nvSpPr>
          <p:cNvPr id="17" name="Text 13"/>
          <p:cNvSpPr txBox="1"/>
          <p:nvPr/>
        </p:nvSpPr>
        <p:spPr>
          <a:xfrm>
            <a:off x="4709160" y="2414016"/>
            <a:ext cx="3063240" cy="621792"/>
          </a:xfrm>
          <a:prstGeom prst="rect">
            <a:avLst/>
          </a:prstGeom>
          <a:noFill/>
          <a:ln/>
        </p:spPr>
        <p:txBody>
          <a:bodyPr wrap="square" lIns="0" tIns="0" rIns="0" bIns="0" rtlCol="0" anchor="ctr"/>
          <a:lstStyle/>
          <a:p>
            <a:pPr indent="0" marL="0">
              <a:buNone/>
            </a:pPr>
            <a:r>
              <a:rPr lang="en-US" sz="1100" dirty="0">
                <a:solidFill>
                  <a:srgbClr val="3C4043"/>
                </a:solidFill>
                <a:latin typeface="Calibri" pitchFamily="34" charset="0"/>
                <a:ea typeface="Calibri" pitchFamily="34" charset="-122"/>
                <a:cs typeface="Calibri" pitchFamily="34" charset="-120"/>
              </a:rPr>
              <a:t>Ask the supplier to explain range, availability and pricing. Reduce Mobile Phone and Tablet orders; keep Headphones.</a:t>
            </a:r>
            <a:endParaRPr lang="en-US" sz="1100" dirty="0"/>
          </a:p>
        </p:txBody>
      </p:sp>
      <p:sp>
        <p:nvSpPr>
          <p:cNvPr id="18" name="Shape 14"/>
          <p:cNvSpPr/>
          <p:nvPr/>
        </p:nvSpPr>
        <p:spPr>
          <a:xfrm>
            <a:off x="548640" y="3209544"/>
            <a:ext cx="7315200" cy="731520"/>
          </a:xfrm>
          <a:prstGeom prst="roundRect">
            <a:avLst>
              <a:gd name="adj" fmla="val 10000"/>
            </a:avLst>
          </a:prstGeom>
          <a:solidFill>
            <a:srgbClr val="F2F3F5"/>
          </a:solidFill>
          <a:ln w="12700">
            <a:solidFill>
              <a:srgbClr val="F2F3F5"/>
            </a:solidFill>
            <a:prstDash val="solid"/>
          </a:ln>
        </p:spPr>
      </p:sp>
      <p:sp>
        <p:nvSpPr>
          <p:cNvPr id="19" name="Shape 15"/>
          <p:cNvSpPr/>
          <p:nvPr/>
        </p:nvSpPr>
        <p:spPr>
          <a:xfrm>
            <a:off x="713232" y="3300984"/>
            <a:ext cx="548640" cy="548640"/>
          </a:xfrm>
          <a:prstGeom prst="ellipse">
            <a:avLst/>
          </a:prstGeom>
          <a:solidFill>
            <a:srgbClr val="B3541E"/>
          </a:solidFill>
          <a:ln w="12700">
            <a:solidFill>
              <a:srgbClr val="B3541E"/>
            </a:solidFill>
            <a:prstDash val="solid"/>
          </a:ln>
        </p:spPr>
      </p:sp>
      <p:pic>
        <p:nvPicPr>
          <p:cNvPr id="20" name="Image 2" descr="preencoded.png">    </p:cNvPr>
          <p:cNvPicPr>
            <a:picLocks noChangeAspect="1"/>
          </p:cNvPicPr>
          <p:nvPr/>
        </p:nvPicPr>
        <p:blipFill>
          <a:blip r:embed="rId3"/>
          <a:stretch>
            <a:fillRect/>
          </a:stretch>
        </p:blipFill>
        <p:spPr>
          <a:xfrm>
            <a:off x="850392" y="3438144"/>
            <a:ext cx="274320" cy="274320"/>
          </a:xfrm>
          <a:prstGeom prst="rect">
            <a:avLst/>
          </a:prstGeom>
        </p:spPr>
      </p:pic>
      <p:sp>
        <p:nvSpPr>
          <p:cNvPr id="21" name="Text 16"/>
          <p:cNvSpPr txBox="1"/>
          <p:nvPr/>
        </p:nvSpPr>
        <p:spPr>
          <a:xfrm>
            <a:off x="1417320" y="3300984"/>
            <a:ext cx="1371600" cy="274320"/>
          </a:xfrm>
          <a:prstGeom prst="rect">
            <a:avLst/>
          </a:prstGeom>
          <a:noFill/>
          <a:ln/>
        </p:spPr>
        <p:txBody>
          <a:bodyPr wrap="square" lIns="0" tIns="0" rIns="0" bIns="0" rtlCol="0" anchor="ctr"/>
          <a:lstStyle/>
          <a:p>
            <a:pPr indent="0" marL="0">
              <a:buNone/>
            </a:pPr>
            <a:r>
              <a:rPr lang="en-US" sz="1200" b="1" dirty="0">
                <a:solidFill>
                  <a:srgbClr val="B3541E"/>
                </a:solidFill>
                <a:latin typeface="Calibri" pitchFamily="34" charset="0"/>
                <a:ea typeface="Calibri" pitchFamily="34" charset="-122"/>
                <a:cs typeface="Calibri" pitchFamily="34" charset="-120"/>
              </a:rPr>
              <a:t>WATCH</a:t>
            </a:r>
            <a:endParaRPr lang="en-US" sz="1200" dirty="0"/>
          </a:p>
        </p:txBody>
      </p:sp>
      <p:sp>
        <p:nvSpPr>
          <p:cNvPr id="22" name="Text 17"/>
          <p:cNvSpPr txBox="1"/>
          <p:nvPr/>
        </p:nvSpPr>
        <p:spPr>
          <a:xfrm>
            <a:off x="1417320" y="3557016"/>
            <a:ext cx="1737360"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Home &amp; Kitchen</a:t>
            </a:r>
            <a:endParaRPr lang="en-US" sz="1500" dirty="0"/>
          </a:p>
        </p:txBody>
      </p:sp>
      <p:sp>
        <p:nvSpPr>
          <p:cNvPr id="23" name="Text 18"/>
          <p:cNvSpPr txBox="1"/>
          <p:nvPr/>
        </p:nvSpPr>
        <p:spPr>
          <a:xfrm>
            <a:off x="3154680" y="3300984"/>
            <a:ext cx="155448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₹8.18 Cr · −18%</a:t>
            </a:r>
            <a:endParaRPr lang="en-US" sz="1200" dirty="0"/>
          </a:p>
        </p:txBody>
      </p:sp>
      <p:sp>
        <p:nvSpPr>
          <p:cNvPr id="24" name="Text 19"/>
          <p:cNvSpPr txBox="1"/>
          <p:nvPr/>
        </p:nvSpPr>
        <p:spPr>
          <a:xfrm>
            <a:off x="4709160" y="3264408"/>
            <a:ext cx="3063240" cy="621792"/>
          </a:xfrm>
          <a:prstGeom prst="rect">
            <a:avLst/>
          </a:prstGeom>
          <a:noFill/>
          <a:ln/>
        </p:spPr>
        <p:txBody>
          <a:bodyPr wrap="square" lIns="0" tIns="0" rIns="0" bIns="0" rtlCol="0" anchor="ctr"/>
          <a:lstStyle/>
          <a:p>
            <a:pPr indent="0" marL="0">
              <a:buNone/>
            </a:pPr>
            <a:r>
              <a:rPr lang="en-US" sz="1100" dirty="0">
                <a:solidFill>
                  <a:srgbClr val="3C4043"/>
                </a:solidFill>
                <a:latin typeface="Calibri" pitchFamily="34" charset="0"/>
                <a:ea typeface="Calibri" pitchFamily="34" charset="-122"/>
                <a:cs typeface="Calibri" pitchFamily="34" charset="-120"/>
              </a:rPr>
              <a:t>Reduce Dinner Set, Mixer Grinder, Water Bottle orders; keep Pressure Cooker and Storage Box.</a:t>
            </a:r>
            <a:endParaRPr lang="en-US" sz="1100" dirty="0"/>
          </a:p>
        </p:txBody>
      </p:sp>
      <p:sp>
        <p:nvSpPr>
          <p:cNvPr id="25" name="Shape 20"/>
          <p:cNvSpPr/>
          <p:nvPr/>
        </p:nvSpPr>
        <p:spPr>
          <a:xfrm>
            <a:off x="548640" y="4059936"/>
            <a:ext cx="7315200" cy="731520"/>
          </a:xfrm>
          <a:prstGeom prst="roundRect">
            <a:avLst>
              <a:gd name="adj" fmla="val 10000"/>
            </a:avLst>
          </a:prstGeom>
          <a:solidFill>
            <a:srgbClr val="F2F3F5"/>
          </a:solidFill>
          <a:ln w="12700">
            <a:solidFill>
              <a:srgbClr val="F2F3F5"/>
            </a:solidFill>
            <a:prstDash val="solid"/>
          </a:ln>
        </p:spPr>
      </p:sp>
      <p:sp>
        <p:nvSpPr>
          <p:cNvPr id="26" name="Shape 21"/>
          <p:cNvSpPr/>
          <p:nvPr/>
        </p:nvSpPr>
        <p:spPr>
          <a:xfrm>
            <a:off x="713232" y="4151376"/>
            <a:ext cx="548640" cy="548640"/>
          </a:xfrm>
          <a:prstGeom prst="ellipse">
            <a:avLst/>
          </a:prstGeom>
          <a:solidFill>
            <a:srgbClr val="1E7A3C"/>
          </a:solidFill>
          <a:ln w="12700">
            <a:solidFill>
              <a:srgbClr val="1E7A3C"/>
            </a:solidFill>
            <a:prstDash val="solid"/>
          </a:ln>
        </p:spPr>
      </p:sp>
      <p:pic>
        <p:nvPicPr>
          <p:cNvPr id="27" name="Image 3" descr="preencoded.png">    </p:cNvPr>
          <p:cNvPicPr>
            <a:picLocks noChangeAspect="1"/>
          </p:cNvPicPr>
          <p:nvPr/>
        </p:nvPicPr>
        <p:blipFill>
          <a:blip r:embed="rId4"/>
          <a:stretch>
            <a:fillRect/>
          </a:stretch>
        </p:blipFill>
        <p:spPr>
          <a:xfrm>
            <a:off x="850392" y="4288536"/>
            <a:ext cx="274320" cy="274320"/>
          </a:xfrm>
          <a:prstGeom prst="rect">
            <a:avLst/>
          </a:prstGeom>
        </p:spPr>
      </p:pic>
      <p:sp>
        <p:nvSpPr>
          <p:cNvPr id="28" name="Text 22"/>
          <p:cNvSpPr txBox="1"/>
          <p:nvPr/>
        </p:nvSpPr>
        <p:spPr>
          <a:xfrm>
            <a:off x="1417320" y="4151376"/>
            <a:ext cx="1371600" cy="274320"/>
          </a:xfrm>
          <a:prstGeom prst="rect">
            <a:avLst/>
          </a:prstGeom>
          <a:noFill/>
          <a:ln/>
        </p:spPr>
        <p:txBody>
          <a:bodyPr wrap="square" lIns="0" tIns="0" rIns="0" bIns="0" rtlCol="0" anchor="ctr"/>
          <a:lstStyle/>
          <a:p>
            <a:pPr indent="0" marL="0">
              <a:buNone/>
            </a:pPr>
            <a:r>
              <a:rPr lang="en-US" sz="1200" b="1" dirty="0">
                <a:solidFill>
                  <a:srgbClr val="1E7A3C"/>
                </a:solidFill>
                <a:latin typeface="Calibri" pitchFamily="34" charset="0"/>
                <a:ea typeface="Calibri" pitchFamily="34" charset="-122"/>
                <a:cs typeface="Calibri" pitchFamily="34" charset="-120"/>
              </a:rPr>
              <a:t>HOLD</a:t>
            </a:r>
            <a:endParaRPr lang="en-US" sz="1200" dirty="0"/>
          </a:p>
        </p:txBody>
      </p:sp>
      <p:sp>
        <p:nvSpPr>
          <p:cNvPr id="29" name="Text 23"/>
          <p:cNvSpPr txBox="1"/>
          <p:nvPr/>
        </p:nvSpPr>
        <p:spPr>
          <a:xfrm>
            <a:off x="1417320" y="4407408"/>
            <a:ext cx="1737360"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Grocery</a:t>
            </a:r>
            <a:endParaRPr lang="en-US" sz="1500" dirty="0"/>
          </a:p>
        </p:txBody>
      </p:sp>
      <p:sp>
        <p:nvSpPr>
          <p:cNvPr id="30" name="Text 24"/>
          <p:cNvSpPr txBox="1"/>
          <p:nvPr/>
        </p:nvSpPr>
        <p:spPr>
          <a:xfrm>
            <a:off x="3154680" y="4151376"/>
            <a:ext cx="155448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₹4.23 Cr · −4%</a:t>
            </a:r>
            <a:endParaRPr lang="en-US" sz="1200" dirty="0"/>
          </a:p>
        </p:txBody>
      </p:sp>
      <p:sp>
        <p:nvSpPr>
          <p:cNvPr id="31" name="Text 25"/>
          <p:cNvSpPr txBox="1"/>
          <p:nvPr/>
        </p:nvSpPr>
        <p:spPr>
          <a:xfrm>
            <a:off x="4709160" y="4114800"/>
            <a:ext cx="3063240" cy="621792"/>
          </a:xfrm>
          <a:prstGeom prst="rect">
            <a:avLst/>
          </a:prstGeom>
          <a:noFill/>
          <a:ln/>
        </p:spPr>
        <p:txBody>
          <a:bodyPr wrap="square" lIns="0" tIns="0" rIns="0" bIns="0" rtlCol="0" anchor="ctr"/>
          <a:lstStyle/>
          <a:p>
            <a:pPr indent="0" marL="0">
              <a:buNone/>
            </a:pPr>
            <a:r>
              <a:rPr lang="en-US" sz="1100" dirty="0">
                <a:solidFill>
                  <a:srgbClr val="3C4043"/>
                </a:solidFill>
                <a:latin typeface="Calibri" pitchFamily="34" charset="0"/>
                <a:ea typeface="Calibri" pitchFamily="34" charset="-122"/>
                <a:cs typeface="Calibri" pitchFamily="34" charset="-120"/>
              </a:rPr>
              <a:t>Half of all transactions; lowest revenue variability. No cuts; maintain availability.</a:t>
            </a:r>
            <a:endParaRPr lang="en-US" sz="1100" dirty="0"/>
          </a:p>
        </p:txBody>
      </p:sp>
      <p:sp>
        <p:nvSpPr>
          <p:cNvPr id="32" name="Shape 26"/>
          <p:cNvSpPr/>
          <p:nvPr/>
        </p:nvSpPr>
        <p:spPr>
          <a:xfrm>
            <a:off x="548640" y="4910328"/>
            <a:ext cx="7315200" cy="731520"/>
          </a:xfrm>
          <a:prstGeom prst="roundRect">
            <a:avLst>
              <a:gd name="adj" fmla="val 10000"/>
            </a:avLst>
          </a:prstGeom>
          <a:solidFill>
            <a:srgbClr val="F2F3F5"/>
          </a:solidFill>
          <a:ln w="12700">
            <a:solidFill>
              <a:srgbClr val="F2F3F5"/>
            </a:solidFill>
            <a:prstDash val="solid"/>
          </a:ln>
        </p:spPr>
      </p:sp>
      <p:sp>
        <p:nvSpPr>
          <p:cNvPr id="33" name="Shape 27"/>
          <p:cNvSpPr/>
          <p:nvPr/>
        </p:nvSpPr>
        <p:spPr>
          <a:xfrm>
            <a:off x="713232" y="5001768"/>
            <a:ext cx="548640" cy="548640"/>
          </a:xfrm>
          <a:prstGeom prst="ellipse">
            <a:avLst/>
          </a:prstGeom>
          <a:solidFill>
            <a:srgbClr val="7D7B74"/>
          </a:solidFill>
          <a:ln w="12700">
            <a:solidFill>
              <a:srgbClr val="7D7B74"/>
            </a:solidFill>
            <a:prstDash val="solid"/>
          </a:ln>
        </p:spPr>
      </p:sp>
      <p:pic>
        <p:nvPicPr>
          <p:cNvPr id="34" name="Image 4" descr="preencoded.png">    </p:cNvPr>
          <p:cNvPicPr>
            <a:picLocks noChangeAspect="1"/>
          </p:cNvPicPr>
          <p:nvPr/>
        </p:nvPicPr>
        <p:blipFill>
          <a:blip r:embed="rId5"/>
          <a:stretch>
            <a:fillRect/>
          </a:stretch>
        </p:blipFill>
        <p:spPr>
          <a:xfrm>
            <a:off x="850392" y="5138928"/>
            <a:ext cx="274320" cy="274320"/>
          </a:xfrm>
          <a:prstGeom prst="rect">
            <a:avLst/>
          </a:prstGeom>
        </p:spPr>
      </p:pic>
      <p:sp>
        <p:nvSpPr>
          <p:cNvPr id="35" name="Text 28"/>
          <p:cNvSpPr txBox="1"/>
          <p:nvPr/>
        </p:nvSpPr>
        <p:spPr>
          <a:xfrm>
            <a:off x="1417320" y="5001768"/>
            <a:ext cx="1371600" cy="274320"/>
          </a:xfrm>
          <a:prstGeom prst="rect">
            <a:avLst/>
          </a:prstGeom>
          <a:noFill/>
          <a:ln/>
        </p:spPr>
        <p:txBody>
          <a:bodyPr wrap="square" lIns="0" tIns="0" rIns="0" bIns="0" rtlCol="0" anchor="ctr"/>
          <a:lstStyle/>
          <a:p>
            <a:pPr indent="0" marL="0">
              <a:buNone/>
            </a:pPr>
            <a:r>
              <a:rPr lang="en-US" sz="1200" b="1" dirty="0">
                <a:solidFill>
                  <a:srgbClr val="7D7B74"/>
                </a:solidFill>
                <a:latin typeface="Calibri" pitchFamily="34" charset="0"/>
                <a:ea typeface="Calibri" pitchFamily="34" charset="-122"/>
                <a:cs typeface="Calibri" pitchFamily="34" charset="-120"/>
              </a:rPr>
              <a:t>HOLD</a:t>
            </a:r>
            <a:endParaRPr lang="en-US" sz="1200" dirty="0"/>
          </a:p>
        </p:txBody>
      </p:sp>
      <p:sp>
        <p:nvSpPr>
          <p:cNvPr id="36" name="Text 29"/>
          <p:cNvSpPr txBox="1"/>
          <p:nvPr/>
        </p:nvSpPr>
        <p:spPr>
          <a:xfrm>
            <a:off x="1417320" y="5257800"/>
            <a:ext cx="1737360" cy="320040"/>
          </a:xfrm>
          <a:prstGeom prst="rect">
            <a:avLst/>
          </a:prstGeom>
          <a:noFill/>
          <a:ln/>
        </p:spPr>
        <p:txBody>
          <a:bodyPr wrap="square" lIns="0" tIns="0" rIns="0" bIns="0" rtlCol="0" anchor="ctr"/>
          <a:lstStyle/>
          <a:p>
            <a:pPr indent="0" marL="0">
              <a:buNone/>
            </a:pPr>
            <a:r>
              <a:rPr lang="en-US" sz="1500" b="1" dirty="0">
                <a:solidFill>
                  <a:srgbClr val="1F2328"/>
                </a:solidFill>
                <a:latin typeface="Cambria" pitchFamily="34" charset="0"/>
                <a:ea typeface="Cambria" pitchFamily="34" charset="-122"/>
                <a:cs typeface="Cambria" pitchFamily="34" charset="-120"/>
              </a:rPr>
              <a:t>Personal Care</a:t>
            </a:r>
            <a:endParaRPr lang="en-US" sz="1500" dirty="0"/>
          </a:p>
        </p:txBody>
      </p:sp>
      <p:sp>
        <p:nvSpPr>
          <p:cNvPr id="37" name="Text 30"/>
          <p:cNvSpPr txBox="1"/>
          <p:nvPr/>
        </p:nvSpPr>
        <p:spPr>
          <a:xfrm>
            <a:off x="3154680" y="5001768"/>
            <a:ext cx="155448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₹3.96 Cr · +2%</a:t>
            </a:r>
            <a:endParaRPr lang="en-US" sz="1200" dirty="0"/>
          </a:p>
        </p:txBody>
      </p:sp>
      <p:sp>
        <p:nvSpPr>
          <p:cNvPr id="38" name="Text 31"/>
          <p:cNvSpPr txBox="1"/>
          <p:nvPr/>
        </p:nvSpPr>
        <p:spPr>
          <a:xfrm>
            <a:off x="4709160" y="4965192"/>
            <a:ext cx="3063240" cy="621792"/>
          </a:xfrm>
          <a:prstGeom prst="rect">
            <a:avLst/>
          </a:prstGeom>
          <a:noFill/>
          <a:ln/>
        </p:spPr>
        <p:txBody>
          <a:bodyPr wrap="square" lIns="0" tIns="0" rIns="0" bIns="0" rtlCol="0" anchor="ctr"/>
          <a:lstStyle/>
          <a:p>
            <a:pPr indent="0" marL="0">
              <a:buNone/>
            </a:pPr>
            <a:r>
              <a:rPr lang="en-US" sz="1100" dirty="0">
                <a:solidFill>
                  <a:srgbClr val="3C4043"/>
                </a:solidFill>
                <a:latin typeface="Calibri" pitchFamily="34" charset="0"/>
                <a:ea typeface="Calibri" pitchFamily="34" charset="-122"/>
                <a:cs typeface="Calibri" pitchFamily="34" charset="-120"/>
              </a:rPr>
              <a:t>Steady. Small increases; plan Sunscreen as seasonal.</a:t>
            </a:r>
            <a:endParaRPr lang="en-US" sz="1100" dirty="0"/>
          </a:p>
        </p:txBody>
      </p:sp>
      <p:sp>
        <p:nvSpPr>
          <p:cNvPr id="39" name="Shape 32"/>
          <p:cNvSpPr/>
          <p:nvPr/>
        </p:nvSpPr>
        <p:spPr>
          <a:xfrm>
            <a:off x="8138160" y="1508760"/>
            <a:ext cx="3474720" cy="1280160"/>
          </a:xfrm>
          <a:prstGeom prst="roundRect">
            <a:avLst>
              <a:gd name="adj" fmla="val 5714"/>
            </a:avLst>
          </a:prstGeom>
          <a:solidFill>
            <a:srgbClr val="F2F3F5"/>
          </a:solidFill>
          <a:ln w="12700">
            <a:solidFill>
              <a:srgbClr val="F2F3F5"/>
            </a:solidFill>
            <a:prstDash val="solid"/>
          </a:ln>
        </p:spPr>
      </p:sp>
      <p:sp>
        <p:nvSpPr>
          <p:cNvPr id="40" name="Shape 33"/>
          <p:cNvSpPr/>
          <p:nvPr/>
        </p:nvSpPr>
        <p:spPr>
          <a:xfrm>
            <a:off x="8302752" y="1673352"/>
            <a:ext cx="502920" cy="502920"/>
          </a:xfrm>
          <a:prstGeom prst="ellipse">
            <a:avLst/>
          </a:prstGeom>
          <a:solidFill>
            <a:srgbClr val="E8A33D"/>
          </a:solidFill>
          <a:ln w="12700">
            <a:solidFill>
              <a:srgbClr val="E8A33D"/>
            </a:solidFill>
            <a:prstDash val="solid"/>
          </a:ln>
        </p:spPr>
      </p:sp>
      <p:pic>
        <p:nvPicPr>
          <p:cNvPr id="41" name="Image 5" descr="preencoded.png">    </p:cNvPr>
          <p:cNvPicPr>
            <a:picLocks noChangeAspect="1"/>
          </p:cNvPicPr>
          <p:nvPr/>
        </p:nvPicPr>
        <p:blipFill>
          <a:blip r:embed="rId6"/>
          <a:stretch>
            <a:fillRect/>
          </a:stretch>
        </p:blipFill>
        <p:spPr>
          <a:xfrm>
            <a:off x="8428482" y="1799082"/>
            <a:ext cx="251460" cy="251460"/>
          </a:xfrm>
          <a:prstGeom prst="rect">
            <a:avLst/>
          </a:prstGeom>
        </p:spPr>
      </p:pic>
      <p:sp>
        <p:nvSpPr>
          <p:cNvPr id="42" name="Text 34"/>
          <p:cNvSpPr txBox="1"/>
          <p:nvPr/>
        </p:nvSpPr>
        <p:spPr>
          <a:xfrm>
            <a:off x="8961120" y="1618488"/>
            <a:ext cx="2560320" cy="502920"/>
          </a:xfrm>
          <a:prstGeom prst="rect">
            <a:avLst/>
          </a:prstGeom>
          <a:noFill/>
          <a:ln/>
        </p:spPr>
        <p:txBody>
          <a:bodyPr wrap="square" lIns="0" tIns="0" rIns="0" bIns="0" rtlCol="0" anchor="t"/>
          <a:lstStyle/>
          <a:p>
            <a:pPr indent="0" marL="0">
              <a:buNone/>
            </a:pPr>
            <a:r>
              <a:rPr lang="en-US" sz="1300" b="1" dirty="0">
                <a:solidFill>
                  <a:srgbClr val="1F2328"/>
                </a:solidFill>
                <a:latin typeface="Cambria" pitchFamily="34" charset="0"/>
                <a:ea typeface="Cambria" pitchFamily="34" charset="-122"/>
                <a:cs typeface="Cambria" pitchFamily="34" charset="-120"/>
              </a:rPr>
              <a:t>Trial a 10% cap on store-funded discounts</a:t>
            </a:r>
            <a:endParaRPr lang="en-US" sz="1300" dirty="0"/>
          </a:p>
        </p:txBody>
      </p:sp>
      <p:sp>
        <p:nvSpPr>
          <p:cNvPr id="43" name="Text 35"/>
          <p:cNvSpPr txBox="1"/>
          <p:nvPr/>
        </p:nvSpPr>
        <p:spPr>
          <a:xfrm>
            <a:off x="8961120" y="2112264"/>
            <a:ext cx="2560320" cy="640080"/>
          </a:xfrm>
          <a:prstGeom prst="rect">
            <a:avLst/>
          </a:prstGeom>
          <a:noFill/>
          <a:ln/>
        </p:spPr>
        <p:txBody>
          <a:bodyPr wrap="square" lIns="0" tIns="0" rIns="0" bIns="0" rtlCol="0" anchor="t"/>
          <a:lstStyle/>
          <a:p>
            <a:pPr indent="0" marL="0">
              <a:buNone/>
            </a:pPr>
            <a:r>
              <a:rPr lang="en-US" sz="1050" dirty="0">
                <a:solidFill>
                  <a:srgbClr val="3C4043"/>
                </a:solidFill>
                <a:latin typeface="Calibri" pitchFamily="34" charset="0"/>
                <a:ea typeface="Calibri" pitchFamily="34" charset="-122"/>
                <a:cs typeface="Calibri" pitchFamily="34" charset="-120"/>
              </a:rPr>
              <a:t>A policy to test. Deeper discounts supplier-funded. Illustration: ≈ ₹83.7 L of discount not given in six months.</a:t>
            </a:r>
            <a:endParaRPr lang="en-US" sz="1050" dirty="0"/>
          </a:p>
        </p:txBody>
      </p:sp>
      <p:sp>
        <p:nvSpPr>
          <p:cNvPr id="44" name="Shape 36"/>
          <p:cNvSpPr/>
          <p:nvPr/>
        </p:nvSpPr>
        <p:spPr>
          <a:xfrm>
            <a:off x="8138160" y="2926080"/>
            <a:ext cx="3474720" cy="1280160"/>
          </a:xfrm>
          <a:prstGeom prst="roundRect">
            <a:avLst>
              <a:gd name="adj" fmla="val 5714"/>
            </a:avLst>
          </a:prstGeom>
          <a:solidFill>
            <a:srgbClr val="F2F3F5"/>
          </a:solidFill>
          <a:ln w="12700">
            <a:solidFill>
              <a:srgbClr val="F2F3F5"/>
            </a:solidFill>
            <a:prstDash val="solid"/>
          </a:ln>
        </p:spPr>
      </p:sp>
      <p:sp>
        <p:nvSpPr>
          <p:cNvPr id="45" name="Shape 37"/>
          <p:cNvSpPr/>
          <p:nvPr/>
        </p:nvSpPr>
        <p:spPr>
          <a:xfrm>
            <a:off x="8302752" y="3090672"/>
            <a:ext cx="502920" cy="502920"/>
          </a:xfrm>
          <a:prstGeom prst="ellipse">
            <a:avLst/>
          </a:prstGeom>
          <a:solidFill>
            <a:srgbClr val="E8A33D"/>
          </a:solidFill>
          <a:ln w="12700">
            <a:solidFill>
              <a:srgbClr val="E8A33D"/>
            </a:solidFill>
            <a:prstDash val="solid"/>
          </a:ln>
        </p:spPr>
      </p:sp>
      <p:pic>
        <p:nvPicPr>
          <p:cNvPr id="46" name="Image 6" descr="preencoded.png">    </p:cNvPr>
          <p:cNvPicPr>
            <a:picLocks noChangeAspect="1"/>
          </p:cNvPicPr>
          <p:nvPr/>
        </p:nvPicPr>
        <p:blipFill>
          <a:blip r:embed="rId7"/>
          <a:stretch>
            <a:fillRect/>
          </a:stretch>
        </p:blipFill>
        <p:spPr>
          <a:xfrm>
            <a:off x="8428482" y="3216402"/>
            <a:ext cx="251460" cy="251460"/>
          </a:xfrm>
          <a:prstGeom prst="rect">
            <a:avLst/>
          </a:prstGeom>
        </p:spPr>
      </p:pic>
      <p:sp>
        <p:nvSpPr>
          <p:cNvPr id="47" name="Text 38"/>
          <p:cNvSpPr txBox="1"/>
          <p:nvPr/>
        </p:nvSpPr>
        <p:spPr>
          <a:xfrm>
            <a:off x="8961120" y="3035808"/>
            <a:ext cx="2560320" cy="502920"/>
          </a:xfrm>
          <a:prstGeom prst="rect">
            <a:avLst/>
          </a:prstGeom>
          <a:noFill/>
          <a:ln/>
        </p:spPr>
        <p:txBody>
          <a:bodyPr wrap="square" lIns="0" tIns="0" rIns="0" bIns="0" rtlCol="0" anchor="t"/>
          <a:lstStyle/>
          <a:p>
            <a:pPr indent="0" marL="0">
              <a:buNone/>
            </a:pPr>
            <a:r>
              <a:rPr lang="en-US" sz="1300" b="1" dirty="0">
                <a:solidFill>
                  <a:srgbClr val="1F2328"/>
                </a:solidFill>
                <a:latin typeface="Cambria" pitchFamily="34" charset="0"/>
                <a:ea typeface="Cambria" pitchFamily="34" charset="-122"/>
                <a:cs typeface="Cambria" pitchFamily="34" charset="-120"/>
              </a:rPr>
              <a:t>Test weekday promotions</a:t>
            </a:r>
            <a:endParaRPr lang="en-US" sz="1300" dirty="0"/>
          </a:p>
        </p:txBody>
      </p:sp>
      <p:sp>
        <p:nvSpPr>
          <p:cNvPr id="48" name="Text 39"/>
          <p:cNvSpPr txBox="1"/>
          <p:nvPr/>
        </p:nvSpPr>
        <p:spPr>
          <a:xfrm>
            <a:off x="8961120" y="3529584"/>
            <a:ext cx="2560320" cy="640080"/>
          </a:xfrm>
          <a:prstGeom prst="rect">
            <a:avLst/>
          </a:prstGeom>
          <a:noFill/>
          <a:ln/>
        </p:spPr>
        <p:txBody>
          <a:bodyPr wrap="square" lIns="0" tIns="0" rIns="0" bIns="0" rtlCol="0" anchor="t"/>
          <a:lstStyle/>
          <a:p>
            <a:pPr indent="0" marL="0">
              <a:buNone/>
            </a:pPr>
            <a:r>
              <a:rPr lang="en-US" sz="1050" dirty="0">
                <a:solidFill>
                  <a:srgbClr val="3C4043"/>
                </a:solidFill>
                <a:latin typeface="Calibri" pitchFamily="34" charset="0"/>
                <a:ea typeface="Calibri" pitchFamily="34" charset="-122"/>
                <a:cs typeface="Calibri" pitchFamily="34" charset="-120"/>
              </a:rPr>
              <a:t>₹1.32 Cr of discounts were recorded at weekends. Measure impact against control stores.</a:t>
            </a:r>
            <a:endParaRPr lang="en-US" sz="1050" dirty="0"/>
          </a:p>
        </p:txBody>
      </p:sp>
      <p:sp>
        <p:nvSpPr>
          <p:cNvPr id="49" name="Shape 40"/>
          <p:cNvSpPr/>
          <p:nvPr/>
        </p:nvSpPr>
        <p:spPr>
          <a:xfrm>
            <a:off x="8138160" y="4343400"/>
            <a:ext cx="3474720" cy="1280160"/>
          </a:xfrm>
          <a:prstGeom prst="roundRect">
            <a:avLst>
              <a:gd name="adj" fmla="val 5714"/>
            </a:avLst>
          </a:prstGeom>
          <a:solidFill>
            <a:srgbClr val="F2F3F5"/>
          </a:solidFill>
          <a:ln w="12700">
            <a:solidFill>
              <a:srgbClr val="F2F3F5"/>
            </a:solidFill>
            <a:prstDash val="solid"/>
          </a:ln>
        </p:spPr>
      </p:sp>
      <p:sp>
        <p:nvSpPr>
          <p:cNvPr id="50" name="Shape 41"/>
          <p:cNvSpPr/>
          <p:nvPr/>
        </p:nvSpPr>
        <p:spPr>
          <a:xfrm>
            <a:off x="8302752" y="4507992"/>
            <a:ext cx="502920" cy="502920"/>
          </a:xfrm>
          <a:prstGeom prst="ellipse">
            <a:avLst/>
          </a:prstGeom>
          <a:solidFill>
            <a:srgbClr val="E8A33D"/>
          </a:solidFill>
          <a:ln w="12700">
            <a:solidFill>
              <a:srgbClr val="E8A33D"/>
            </a:solidFill>
            <a:prstDash val="solid"/>
          </a:ln>
        </p:spPr>
      </p:sp>
      <p:pic>
        <p:nvPicPr>
          <p:cNvPr id="51" name="Image 7" descr="preencoded.png">    </p:cNvPr>
          <p:cNvPicPr>
            <a:picLocks noChangeAspect="1"/>
          </p:cNvPicPr>
          <p:nvPr/>
        </p:nvPicPr>
        <p:blipFill>
          <a:blip r:embed="rId8"/>
          <a:stretch>
            <a:fillRect/>
          </a:stretch>
        </p:blipFill>
        <p:spPr>
          <a:xfrm>
            <a:off x="8428482" y="4633722"/>
            <a:ext cx="251460" cy="251460"/>
          </a:xfrm>
          <a:prstGeom prst="rect">
            <a:avLst/>
          </a:prstGeom>
        </p:spPr>
      </p:pic>
      <p:sp>
        <p:nvSpPr>
          <p:cNvPr id="52" name="Text 42"/>
          <p:cNvSpPr txBox="1"/>
          <p:nvPr/>
        </p:nvSpPr>
        <p:spPr>
          <a:xfrm>
            <a:off x="8961120" y="4453128"/>
            <a:ext cx="2560320" cy="502920"/>
          </a:xfrm>
          <a:prstGeom prst="rect">
            <a:avLst/>
          </a:prstGeom>
          <a:noFill/>
          <a:ln/>
        </p:spPr>
        <p:txBody>
          <a:bodyPr wrap="square" lIns="0" tIns="0" rIns="0" bIns="0" rtlCol="0" anchor="t"/>
          <a:lstStyle/>
          <a:p>
            <a:pPr indent="0" marL="0">
              <a:buNone/>
            </a:pPr>
            <a:r>
              <a:rPr lang="en-US" sz="1300" b="1" dirty="0">
                <a:solidFill>
                  <a:srgbClr val="1F2328"/>
                </a:solidFill>
                <a:latin typeface="Cambria" pitchFamily="34" charset="0"/>
                <a:ea typeface="Cambria" pitchFamily="34" charset="-122"/>
                <a:cs typeface="Cambria" pitchFamily="34" charset="-120"/>
              </a:rPr>
              <a:t>Apparel stock to the fastest-growing cities</a:t>
            </a:r>
            <a:endParaRPr lang="en-US" sz="1300" dirty="0"/>
          </a:p>
        </p:txBody>
      </p:sp>
      <p:sp>
        <p:nvSpPr>
          <p:cNvPr id="53" name="Text 43"/>
          <p:cNvSpPr txBox="1"/>
          <p:nvPr/>
        </p:nvSpPr>
        <p:spPr>
          <a:xfrm>
            <a:off x="8961120" y="4946904"/>
            <a:ext cx="2560320" cy="640080"/>
          </a:xfrm>
          <a:prstGeom prst="rect">
            <a:avLst/>
          </a:prstGeom>
          <a:noFill/>
          <a:ln/>
        </p:spPr>
        <p:txBody>
          <a:bodyPr wrap="square" lIns="0" tIns="0" rIns="0" bIns="0" rtlCol="0" anchor="t"/>
          <a:lstStyle/>
          <a:p>
            <a:pPr indent="0" marL="0">
              <a:buNone/>
            </a:pPr>
            <a:r>
              <a:rPr lang="en-US" sz="1050" dirty="0">
                <a:solidFill>
                  <a:srgbClr val="3C4043"/>
                </a:solidFill>
                <a:latin typeface="Calibri" pitchFamily="34" charset="0"/>
                <a:ea typeface="Calibri" pitchFamily="34" charset="-122"/>
                <a:cs typeface="Calibri" pitchFamily="34" charset="-120"/>
              </a:rPr>
              <a:t>Guntur (+30% units), Kakinada (+27%), Tirupati (+24%).</a:t>
            </a:r>
            <a:endParaRPr lang="en-US" sz="1050" dirty="0"/>
          </a:p>
        </p:txBody>
      </p:sp>
      <p:sp>
        <p:nvSpPr>
          <p:cNvPr id="54" name="Text 44"/>
          <p:cNvSpPr txBox="1"/>
          <p:nvPr/>
        </p:nvSpPr>
        <p:spPr>
          <a:xfrm>
            <a:off x="548640" y="6446520"/>
            <a:ext cx="11064240" cy="274320"/>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Presented by Mohammed Mutee Ruknuddin   ·   MUC01 · Category Intelligence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8212B"/>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Category Manager Briefing</a:t>
            </a:r>
            <a:endParaRPr lang="en-US" sz="3600" dirty="0"/>
          </a:p>
        </p:txBody>
      </p:sp>
      <p:sp>
        <p:nvSpPr>
          <p:cNvPr id="3" name="Text 1"/>
          <p:cNvSpPr txBox="1"/>
          <p:nvPr/>
        </p:nvSpPr>
        <p:spPr>
          <a:xfrm>
            <a:off x="640080" y="1143000"/>
            <a:ext cx="10881360" cy="365760"/>
          </a:xfrm>
          <a:prstGeom prst="rect">
            <a:avLst/>
          </a:prstGeom>
          <a:noFill/>
          <a:ln/>
        </p:spPr>
        <p:txBody>
          <a:bodyPr wrap="square" lIns="0" tIns="0" rIns="0" bIns="0" rtlCol="0" anchor="ctr"/>
          <a:lstStyle/>
          <a:p>
            <a:pPr indent="0" marL="0">
              <a:buNone/>
            </a:pPr>
            <a:r>
              <a:rPr lang="en-US" sz="1500" dirty="0">
                <a:solidFill>
                  <a:srgbClr val="C9CED6"/>
                </a:solidFill>
                <a:latin typeface="Calibri" pitchFamily="34" charset="0"/>
                <a:ea typeface="Calibri" pitchFamily="34" charset="-122"/>
                <a:cs typeface="Calibri" pitchFamily="34" charset="-120"/>
              </a:rPr>
              <a:t>What we would say walking into the supplier review</a:t>
            </a:r>
            <a:endParaRPr lang="en-US" sz="1500" dirty="0"/>
          </a:p>
        </p:txBody>
      </p:sp>
      <p:sp>
        <p:nvSpPr>
          <p:cNvPr id="4" name="Shape 2"/>
          <p:cNvSpPr/>
          <p:nvPr/>
        </p:nvSpPr>
        <p:spPr>
          <a:xfrm>
            <a:off x="640080" y="1828800"/>
            <a:ext cx="5349240" cy="1600200"/>
          </a:xfrm>
          <a:prstGeom prst="roundRect">
            <a:avLst>
              <a:gd name="adj" fmla="val 4571"/>
            </a:avLst>
          </a:prstGeom>
          <a:solidFill>
            <a:srgbClr val="26323F"/>
          </a:solidFill>
          <a:ln w="12700">
            <a:solidFill>
              <a:srgbClr val="26323F"/>
            </a:solidFill>
            <a:prstDash val="solid"/>
          </a:ln>
        </p:spPr>
      </p:sp>
      <p:sp>
        <p:nvSpPr>
          <p:cNvPr id="5" name="Shape 3"/>
          <p:cNvSpPr/>
          <p:nvPr/>
        </p:nvSpPr>
        <p:spPr>
          <a:xfrm>
            <a:off x="896112" y="2103120"/>
            <a:ext cx="685800" cy="685800"/>
          </a:xfrm>
          <a:prstGeom prst="ellipse">
            <a:avLst/>
          </a:prstGeom>
          <a:solidFill>
            <a:srgbClr val="2A78D6"/>
          </a:solidFill>
          <a:ln w="12700">
            <a:solidFill>
              <a:srgbClr val="2A78D6"/>
            </a:solidFill>
            <a:prstDash val="solid"/>
          </a:ln>
        </p:spPr>
      </p:sp>
      <p:pic>
        <p:nvPicPr>
          <p:cNvPr id="6" name="Image 0" descr="preencoded.png">    </p:cNvPr>
          <p:cNvPicPr>
            <a:picLocks noChangeAspect="1"/>
          </p:cNvPicPr>
          <p:nvPr/>
        </p:nvPicPr>
        <p:blipFill>
          <a:blip r:embed="rId1"/>
          <a:stretch>
            <a:fillRect/>
          </a:stretch>
        </p:blipFill>
        <p:spPr>
          <a:xfrm>
            <a:off x="1067562" y="2274570"/>
            <a:ext cx="342900" cy="342900"/>
          </a:xfrm>
          <a:prstGeom prst="rect">
            <a:avLst/>
          </a:prstGeom>
        </p:spPr>
      </p:pic>
      <p:sp>
        <p:nvSpPr>
          <p:cNvPr id="7" name="Text 4"/>
          <p:cNvSpPr txBox="1"/>
          <p:nvPr/>
        </p:nvSpPr>
        <p:spPr>
          <a:xfrm>
            <a:off x="1783080" y="2029968"/>
            <a:ext cx="4023360" cy="45720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Back Apparel</a:t>
            </a:r>
            <a:endParaRPr lang="en-US" sz="1600" dirty="0"/>
          </a:p>
        </p:txBody>
      </p:sp>
      <p:sp>
        <p:nvSpPr>
          <p:cNvPr id="8" name="Text 5"/>
          <p:cNvSpPr txBox="1"/>
          <p:nvPr/>
        </p:nvSpPr>
        <p:spPr>
          <a:xfrm>
            <a:off x="1783080" y="2514600"/>
            <a:ext cx="4023360" cy="868680"/>
          </a:xfrm>
          <a:prstGeom prst="rect">
            <a:avLst/>
          </a:prstGeom>
          <a:noFill/>
          <a:ln/>
        </p:spPr>
        <p:txBody>
          <a:bodyPr wrap="square" lIns="0" tIns="0" rIns="0" bIns="0" rtlCol="0" anchor="t"/>
          <a:lstStyle/>
          <a:p>
            <a:pPr indent="0" marL="0">
              <a:buNone/>
            </a:pPr>
            <a:r>
              <a:rPr lang="en-US" sz="1300" dirty="0">
                <a:solidFill>
                  <a:srgbClr val="C9CED6"/>
                </a:solidFill>
                <a:latin typeface="Calibri" pitchFamily="34" charset="0"/>
                <a:ea typeface="Calibri" pitchFamily="34" charset="-122"/>
                <a:cs typeface="Calibri" pitchFamily="34" charset="-120"/>
              </a:rPr>
              <a:t>Revenue ₹1.01 Cr → ₹1.35 Cr (+34%), with all five products growing. More shelf space and stock.</a:t>
            </a:r>
            <a:endParaRPr lang="en-US" sz="1300" dirty="0"/>
          </a:p>
        </p:txBody>
      </p:sp>
      <p:sp>
        <p:nvSpPr>
          <p:cNvPr id="9" name="Shape 6"/>
          <p:cNvSpPr/>
          <p:nvPr/>
        </p:nvSpPr>
        <p:spPr>
          <a:xfrm>
            <a:off x="6217920" y="1828800"/>
            <a:ext cx="5349240" cy="1600200"/>
          </a:xfrm>
          <a:prstGeom prst="roundRect">
            <a:avLst>
              <a:gd name="adj" fmla="val 4571"/>
            </a:avLst>
          </a:prstGeom>
          <a:solidFill>
            <a:srgbClr val="26323F"/>
          </a:solidFill>
          <a:ln w="12700">
            <a:solidFill>
              <a:srgbClr val="26323F"/>
            </a:solidFill>
            <a:prstDash val="solid"/>
          </a:ln>
        </p:spPr>
      </p:sp>
      <p:sp>
        <p:nvSpPr>
          <p:cNvPr id="10" name="Shape 7"/>
          <p:cNvSpPr/>
          <p:nvPr/>
        </p:nvSpPr>
        <p:spPr>
          <a:xfrm>
            <a:off x="6473952" y="2103120"/>
            <a:ext cx="685800" cy="685800"/>
          </a:xfrm>
          <a:prstGeom prst="ellipse">
            <a:avLst/>
          </a:prstGeom>
          <a:solidFill>
            <a:srgbClr val="D03B3B"/>
          </a:solidFill>
          <a:ln w="12700">
            <a:solidFill>
              <a:srgbClr val="D03B3B"/>
            </a:solidFill>
            <a:prstDash val="solid"/>
          </a:ln>
        </p:spPr>
      </p:sp>
      <p:pic>
        <p:nvPicPr>
          <p:cNvPr id="11" name="Image 1" descr="preencoded.png">    </p:cNvPr>
          <p:cNvPicPr>
            <a:picLocks noChangeAspect="1"/>
          </p:cNvPicPr>
          <p:nvPr/>
        </p:nvPicPr>
        <p:blipFill>
          <a:blip r:embed="rId2"/>
          <a:stretch>
            <a:fillRect/>
          </a:stretch>
        </p:blipFill>
        <p:spPr>
          <a:xfrm>
            <a:off x="6645402" y="2274570"/>
            <a:ext cx="342900" cy="342900"/>
          </a:xfrm>
          <a:prstGeom prst="rect">
            <a:avLst/>
          </a:prstGeom>
        </p:spPr>
      </p:pic>
      <p:sp>
        <p:nvSpPr>
          <p:cNvPr id="12" name="Text 8"/>
          <p:cNvSpPr txBox="1"/>
          <p:nvPr/>
        </p:nvSpPr>
        <p:spPr>
          <a:xfrm>
            <a:off x="7360920" y="2029968"/>
            <a:ext cx="4023360" cy="45720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Challenge Electronics</a:t>
            </a:r>
            <a:endParaRPr lang="en-US" sz="1600" dirty="0"/>
          </a:p>
        </p:txBody>
      </p:sp>
      <p:sp>
        <p:nvSpPr>
          <p:cNvPr id="13" name="Text 9"/>
          <p:cNvSpPr txBox="1"/>
          <p:nvPr/>
        </p:nvSpPr>
        <p:spPr>
          <a:xfrm>
            <a:off x="7360920" y="2514600"/>
            <a:ext cx="4023360" cy="868680"/>
          </a:xfrm>
          <a:prstGeom prst="rect">
            <a:avLst/>
          </a:prstGeom>
          <a:noFill/>
          <a:ln/>
        </p:spPr>
        <p:txBody>
          <a:bodyPr wrap="square" lIns="0" tIns="0" rIns="0" bIns="0" rtlCol="0" anchor="t"/>
          <a:lstStyle/>
          <a:p>
            <a:pPr indent="0" marL="0">
              <a:buNone/>
            </a:pPr>
            <a:r>
              <a:rPr lang="en-US" sz="1300" dirty="0">
                <a:solidFill>
                  <a:srgbClr val="C9CED6"/>
                </a:solidFill>
                <a:latin typeface="Calibri" pitchFamily="34" charset="0"/>
                <a:ea typeface="Calibri" pitchFamily="34" charset="-122"/>
                <a:cs typeface="Calibri" pitchFamily="34" charset="-120"/>
              </a:rPr>
              <a:t>Start with Mobile Phones: ₹98.0 L → ₹42.1 L a month. Ask for an explanation before renewing shelf space and funding.</a:t>
            </a:r>
            <a:endParaRPr lang="en-US" sz="1300" dirty="0"/>
          </a:p>
        </p:txBody>
      </p:sp>
      <p:sp>
        <p:nvSpPr>
          <p:cNvPr id="14" name="Shape 10"/>
          <p:cNvSpPr/>
          <p:nvPr/>
        </p:nvSpPr>
        <p:spPr>
          <a:xfrm>
            <a:off x="640080" y="3611880"/>
            <a:ext cx="5349240" cy="1600200"/>
          </a:xfrm>
          <a:prstGeom prst="roundRect">
            <a:avLst>
              <a:gd name="adj" fmla="val 4571"/>
            </a:avLst>
          </a:prstGeom>
          <a:solidFill>
            <a:srgbClr val="26323F"/>
          </a:solidFill>
          <a:ln w="12700">
            <a:solidFill>
              <a:srgbClr val="26323F"/>
            </a:solidFill>
            <a:prstDash val="solid"/>
          </a:ln>
        </p:spPr>
      </p:sp>
      <p:sp>
        <p:nvSpPr>
          <p:cNvPr id="15" name="Shape 11"/>
          <p:cNvSpPr/>
          <p:nvPr/>
        </p:nvSpPr>
        <p:spPr>
          <a:xfrm>
            <a:off x="896112" y="3886200"/>
            <a:ext cx="685800" cy="685800"/>
          </a:xfrm>
          <a:prstGeom prst="ellipse">
            <a:avLst/>
          </a:prstGeom>
          <a:solidFill>
            <a:srgbClr val="E8A33D"/>
          </a:solidFill>
          <a:ln w="12700">
            <a:solidFill>
              <a:srgbClr val="E8A33D"/>
            </a:solidFill>
            <a:prstDash val="solid"/>
          </a:ln>
        </p:spPr>
      </p:sp>
      <p:pic>
        <p:nvPicPr>
          <p:cNvPr id="16" name="Image 2" descr="preencoded.png">    </p:cNvPr>
          <p:cNvPicPr>
            <a:picLocks noChangeAspect="1"/>
          </p:cNvPicPr>
          <p:nvPr/>
        </p:nvPicPr>
        <p:blipFill>
          <a:blip r:embed="rId3"/>
          <a:stretch>
            <a:fillRect/>
          </a:stretch>
        </p:blipFill>
        <p:spPr>
          <a:xfrm>
            <a:off x="1067562" y="4057650"/>
            <a:ext cx="342900" cy="342900"/>
          </a:xfrm>
          <a:prstGeom prst="rect">
            <a:avLst/>
          </a:prstGeom>
        </p:spPr>
      </p:pic>
      <p:sp>
        <p:nvSpPr>
          <p:cNvPr id="17" name="Text 12"/>
          <p:cNvSpPr txBox="1"/>
          <p:nvPr/>
        </p:nvSpPr>
        <p:spPr>
          <a:xfrm>
            <a:off x="1783080" y="3813048"/>
            <a:ext cx="4023360" cy="45720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Challenge deeper discounts</a:t>
            </a:r>
            <a:endParaRPr lang="en-US" sz="1600" dirty="0"/>
          </a:p>
        </p:txBody>
      </p:sp>
      <p:sp>
        <p:nvSpPr>
          <p:cNvPr id="18" name="Text 13"/>
          <p:cNvSpPr txBox="1"/>
          <p:nvPr/>
        </p:nvSpPr>
        <p:spPr>
          <a:xfrm>
            <a:off x="1783080" y="4297680"/>
            <a:ext cx="4023360" cy="868680"/>
          </a:xfrm>
          <a:prstGeom prst="rect">
            <a:avLst/>
          </a:prstGeom>
          <a:noFill/>
          <a:ln/>
        </p:spPr>
        <p:txBody>
          <a:bodyPr wrap="square" lIns="0" tIns="0" rIns="0" bIns="0" rtlCol="0" anchor="t"/>
          <a:lstStyle/>
          <a:p>
            <a:pPr indent="0" marL="0">
              <a:buNone/>
            </a:pPr>
            <a:r>
              <a:rPr lang="en-US" sz="1300" dirty="0">
                <a:solidFill>
                  <a:srgbClr val="C9CED6"/>
                </a:solidFill>
                <a:latin typeface="Calibri" pitchFamily="34" charset="0"/>
                <a:ea typeface="Calibri" pitchFamily="34" charset="-122"/>
                <a:cs typeface="Calibri" pitchFamily="34" charset="-120"/>
              </a:rPr>
              <a:t>20% off = ₹3,632 vs ₹4,686 per transaction, units ≈ unchanged. Suppliers fund deeper discounts; trial a 10% cap.</a:t>
            </a:r>
            <a:endParaRPr lang="en-US" sz="1300" dirty="0"/>
          </a:p>
        </p:txBody>
      </p:sp>
      <p:sp>
        <p:nvSpPr>
          <p:cNvPr id="19" name="Shape 14"/>
          <p:cNvSpPr/>
          <p:nvPr/>
        </p:nvSpPr>
        <p:spPr>
          <a:xfrm>
            <a:off x="6217920" y="3611880"/>
            <a:ext cx="5349240" cy="1600200"/>
          </a:xfrm>
          <a:prstGeom prst="roundRect">
            <a:avLst>
              <a:gd name="adj" fmla="val 4571"/>
            </a:avLst>
          </a:prstGeom>
          <a:solidFill>
            <a:srgbClr val="26323F"/>
          </a:solidFill>
          <a:ln w="12700">
            <a:solidFill>
              <a:srgbClr val="26323F"/>
            </a:solidFill>
            <a:prstDash val="solid"/>
          </a:ln>
        </p:spPr>
      </p:sp>
      <p:sp>
        <p:nvSpPr>
          <p:cNvPr id="20" name="Shape 15"/>
          <p:cNvSpPr/>
          <p:nvPr/>
        </p:nvSpPr>
        <p:spPr>
          <a:xfrm>
            <a:off x="6473952" y="3886200"/>
            <a:ext cx="685800" cy="685800"/>
          </a:xfrm>
          <a:prstGeom prst="ellipse">
            <a:avLst/>
          </a:prstGeom>
          <a:solidFill>
            <a:srgbClr val="8C96A3"/>
          </a:solidFill>
          <a:ln w="12700">
            <a:solidFill>
              <a:srgbClr val="8C96A3"/>
            </a:solidFill>
            <a:prstDash val="solid"/>
          </a:ln>
        </p:spPr>
      </p:sp>
      <p:pic>
        <p:nvPicPr>
          <p:cNvPr id="21" name="Image 3" descr="preencoded.png">    </p:cNvPr>
          <p:cNvPicPr>
            <a:picLocks noChangeAspect="1"/>
          </p:cNvPicPr>
          <p:nvPr/>
        </p:nvPicPr>
        <p:blipFill>
          <a:blip r:embed="rId4"/>
          <a:stretch>
            <a:fillRect/>
          </a:stretch>
        </p:blipFill>
        <p:spPr>
          <a:xfrm>
            <a:off x="6645402" y="4057650"/>
            <a:ext cx="342900" cy="342900"/>
          </a:xfrm>
          <a:prstGeom prst="rect">
            <a:avLst/>
          </a:prstGeom>
        </p:spPr>
      </p:pic>
      <p:sp>
        <p:nvSpPr>
          <p:cNvPr id="22" name="Text 16"/>
          <p:cNvSpPr txBox="1"/>
          <p:nvPr/>
        </p:nvSpPr>
        <p:spPr>
          <a:xfrm>
            <a:off x="7360920" y="3813048"/>
            <a:ext cx="4023360" cy="45720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Data we need next</a:t>
            </a:r>
            <a:endParaRPr lang="en-US" sz="1600" dirty="0"/>
          </a:p>
        </p:txBody>
      </p:sp>
      <p:sp>
        <p:nvSpPr>
          <p:cNvPr id="23" name="Text 17"/>
          <p:cNvSpPr txBox="1"/>
          <p:nvPr/>
        </p:nvSpPr>
        <p:spPr>
          <a:xfrm>
            <a:off x="7360920" y="4297680"/>
            <a:ext cx="4023360" cy="868680"/>
          </a:xfrm>
          <a:prstGeom prst="rect">
            <a:avLst/>
          </a:prstGeom>
          <a:noFill/>
          <a:ln/>
        </p:spPr>
        <p:txBody>
          <a:bodyPr wrap="square" lIns="0" tIns="0" rIns="0" bIns="0" rtlCol="0" anchor="t"/>
          <a:lstStyle/>
          <a:p>
            <a:pPr indent="0" marL="0">
              <a:buNone/>
            </a:pPr>
            <a:r>
              <a:rPr lang="en-US" sz="1300" dirty="0">
                <a:solidFill>
                  <a:srgbClr val="C9CED6"/>
                </a:solidFill>
                <a:latin typeface="Calibri" pitchFamily="34" charset="0"/>
                <a:ea typeface="Calibri" pitchFamily="34" charset="-122"/>
                <a:cs typeface="Calibri" pitchFamily="34" charset="-120"/>
              </a:rPr>
              <a:t>Product cost and margin — to confirm that moving shelf space to Apparel raises profit, not just revenue.</a:t>
            </a:r>
            <a:endParaRPr lang="en-US" sz="1300" dirty="0"/>
          </a:p>
        </p:txBody>
      </p:sp>
      <p:sp>
        <p:nvSpPr>
          <p:cNvPr id="24" name="Text 18"/>
          <p:cNvSpPr txBox="1"/>
          <p:nvPr/>
        </p:nvSpPr>
        <p:spPr>
          <a:xfrm>
            <a:off x="640080" y="5532120"/>
            <a:ext cx="10881360" cy="457200"/>
          </a:xfrm>
          <a:prstGeom prst="rect">
            <a:avLst/>
          </a:prstGeom>
          <a:noFill/>
          <a:ln/>
        </p:spPr>
        <p:txBody>
          <a:bodyPr wrap="square" lIns="0" tIns="0" rIns="0" bIns="0" rtlCol="0" anchor="ctr"/>
          <a:lstStyle/>
          <a:p>
            <a:pPr indent="0" marL="0">
              <a:buNone/>
            </a:pPr>
            <a:r>
              <a:rPr lang="en-US" sz="1600" i="1" dirty="0">
                <a:solidFill>
                  <a:srgbClr val="E8A33D"/>
                </a:solidFill>
                <a:latin typeface="Cambria" pitchFamily="34" charset="0"/>
                <a:ea typeface="Cambria" pitchFamily="34" charset="-122"/>
                <a:cs typeface="Cambria" pitchFamily="34" charset="-120"/>
              </a:rPr>
              <a:t>Reduce what is falling. Stock what is growing. Hold what is stable. Test — don't assume — the value of deeper discounts.</a:t>
            </a:r>
            <a:endParaRPr lang="en-US" sz="1600" dirty="0"/>
          </a:p>
        </p:txBody>
      </p:sp>
      <p:sp>
        <p:nvSpPr>
          <p:cNvPr id="25" name="Text 19"/>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200" dirty="0">
                <a:solidFill>
                  <a:srgbClr val="9AA3AE"/>
                </a:solidFill>
                <a:latin typeface="Calibri" pitchFamily="34" charset="0"/>
                <a:ea typeface="Calibri" pitchFamily="34" charset="-122"/>
                <a:cs typeface="Calibri" pitchFamily="34" charset="-120"/>
              </a:rPr>
              <a:t>Thank you  ·  Group 10  ·  Mohammed Saalif Udyawar  ·  Jakkana Hasini  ·  Mohammed Mutee Ruknuddin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Category Intelligence — Retail Product Performance EDA</dc:title>
  <dc:subject>PptxGenJS Presentation</dc:subject>
  <dc:creator>PptxGenJS</dc:creator>
  <cp:lastModifiedBy>PptxGenJS</cp:lastModifiedBy>
  <cp:revision>1</cp:revision>
  <dcterms:created xsi:type="dcterms:W3CDTF">2026-09-19T05:40:30Z</dcterms:created>
  <dcterms:modified xsi:type="dcterms:W3CDTF">2026-09-19T05:40:30Z</dcterms:modified>
</cp:coreProperties>
</file>